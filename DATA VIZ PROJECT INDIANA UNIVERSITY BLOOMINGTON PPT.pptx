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80" r:id="rId13"/>
    <p:sldId id="281" r:id="rId14"/>
    <p:sldId id="282" r:id="rId15"/>
    <p:sldId id="283" r:id="rId16"/>
    <p:sldId id="284" r:id="rId17"/>
    <p:sldId id="300" r:id="rId18"/>
    <p:sldId id="286" r:id="rId19"/>
    <p:sldId id="287" r:id="rId20"/>
    <p:sldId id="288" r:id="rId21"/>
    <p:sldId id="289" r:id="rId22"/>
    <p:sldId id="290" r:id="rId23"/>
    <p:sldId id="291" r:id="rId24"/>
    <p:sldId id="293" r:id="rId25"/>
    <p:sldId id="294" r:id="rId26"/>
    <p:sldId id="295" r:id="rId27"/>
    <p:sldId id="296" r:id="rId28"/>
    <p:sldId id="297" r:id="rId29"/>
    <p:sldId id="271" r:id="rId30"/>
    <p:sldId id="278" r:id="rId31"/>
    <p:sldId id="299" r:id="rId32"/>
    <p:sldId id="272" r:id="rId33"/>
  </p:sldIdLst>
  <p:sldSz cx="18288000" cy="10287000"/>
  <p:notesSz cx="6858000" cy="9144000"/>
  <p:embeddedFontLst>
    <p:embeddedFont>
      <p:font typeface="Arimo" panose="020B0604020202020204" charset="0"/>
      <p:regular r:id="rId35"/>
    </p:embeddedFont>
    <p:embeddedFont>
      <p:font typeface="Canva Sans" panose="020B0604020202020204" charset="0"/>
      <p:regular r:id="rId36"/>
    </p:embeddedFont>
    <p:embeddedFont>
      <p:font typeface="Canva Sans Bold" panose="020B0604020202020204" charset="0"/>
      <p:regular r:id="rId37"/>
      <p:bold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94554" autoAdjust="0"/>
  </p:normalViewPr>
  <p:slideViewPr>
    <p:cSldViewPr>
      <p:cViewPr varScale="1">
        <p:scale>
          <a:sx n="54" d="100"/>
          <a:sy n="54" d="100"/>
        </p:scale>
        <p:origin x="76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188A56-5F46-B743-98A0-6069B1531FB9}"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5C4B9-0B75-C944-A7CE-12C2CCB56B6B}" type="slidenum">
              <a:rPr lang="en-US" smtClean="0"/>
              <a:t>‹#›</a:t>
            </a:fld>
            <a:endParaRPr lang="en-US"/>
          </a:p>
        </p:txBody>
      </p:sp>
    </p:spTree>
    <p:extLst>
      <p:ext uri="{BB962C8B-B14F-4D97-AF65-F5344CB8AC3E}">
        <p14:creationId xmlns:p14="http://schemas.microsoft.com/office/powerpoint/2010/main" val="371975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uscis.gov/tools/reports-and-studies/h-1b-employer-data-hub"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uscis.gov/tools/reports-and-studies" TargetMode="External"/><Relationship Id="rId5" Type="http://schemas.openxmlformats.org/officeDocument/2006/relationships/hyperlink" Target="https://dr.lib.iastate.edu/server/api/core/bitstreams/f6654827-cf87-44e6-8553-bce39fe404d7/content" TargetMode="External"/><Relationship Id="rId4" Type="http://schemas.openxmlformats.org/officeDocument/2006/relationships/hyperlink" Target="https://www.kaggle.com/datasets/zongaobian/h1b-lca-disclosure-data-2020-2024"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hyperlink" Target="https://www.americanimmigrationcouncil.org/research/h1b-visa-program-fact-sheet" TargetMode="External"/><Relationship Id="rId3" Type="http://schemas.openxmlformats.org/officeDocument/2006/relationships/hyperlink" Target="https://ohss.dhs.gov/topics/immigration/yearbook" TargetMode="External"/><Relationship Id="rId7" Type="http://schemas.openxmlformats.org/officeDocument/2006/relationships/hyperlink" Target="https://www.migrationpolicy.org/programs/data-hub/charts/immigrant-population-over-time"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pewresearch.org/short-reads/2024/09/27/key-findings-about-us-immigrants/" TargetMode="External"/><Relationship Id="rId5" Type="http://schemas.openxmlformats.org/officeDocument/2006/relationships/hyperlink" Target="https://redbus2us.com/h1b-visa-cap-reach-dates-history-graphs-uscis-data/" TargetMode="External"/><Relationship Id="rId4" Type="http://schemas.openxmlformats.org/officeDocument/2006/relationships/hyperlink" Target="https://www.uscis.gov/sites/default/files/document/data/h-1b-2007-2017-trend-tables.pdf"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www.dol.gov/agencies/whd/immigration/h1b" TargetMode="External"/><Relationship Id="rId3" Type="http://schemas.openxmlformats.org/officeDocument/2006/relationships/hyperlink" Target="https://www.migrationpolicy.org/programs/data-hub/charts/immigrant-population-over-time" TargetMode="External"/><Relationship Id="rId7" Type="http://schemas.openxmlformats.org/officeDocument/2006/relationships/hyperlink" Target="https://www.seyfarth.com/news-insights/keeping-your-ducks-in-h-1b-row-compliance-strategies-for-employers.html"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pewresearch.org/short-reads/2024/09/27/key-findings-about-us-immigrants/" TargetMode="External"/><Relationship Id="rId5" Type="http://schemas.openxmlformats.org/officeDocument/2006/relationships/hyperlink" Target="https://www.federalregister.gov/documents/2024/12/18/2024-29354/modernizing-h-1b-requirements-providing-flexibility-in-the-f-1-program-and-program-improvements" TargetMode="External"/><Relationship Id="rId4" Type="http://schemas.openxmlformats.org/officeDocument/2006/relationships/hyperlink" Target="https://sgp.fas.org/crs/misc/RL33977.pdf" TargetMode="External"/><Relationship Id="rId9" Type="http://schemas.openxmlformats.org/officeDocument/2006/relationships/hyperlink" Target="https://www.uscis.gov/tools/reports-and-studies/h-1b-employer-data-hub"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35JZWMPVXPI&amp;feature=youtu.be"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migrationpolicy.org/programs/data-hub/charts/immigrant-population-over-time"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sp>
        <p:nvSpPr>
          <p:cNvPr id="2" name="Freeform 2"/>
          <p:cNvSpPr/>
          <p:nvPr/>
        </p:nvSpPr>
        <p:spPr>
          <a:xfrm>
            <a:off x="1339752" y="0"/>
            <a:ext cx="11181615" cy="3192606"/>
          </a:xfrm>
          <a:custGeom>
            <a:avLst/>
            <a:gdLst/>
            <a:ahLst/>
            <a:cxnLst/>
            <a:rect l="l" t="t" r="r" b="b"/>
            <a:pathLst>
              <a:path w="11181615" h="3192606">
                <a:moveTo>
                  <a:pt x="0" y="0"/>
                </a:moveTo>
                <a:lnTo>
                  <a:pt x="11181615" y="0"/>
                </a:lnTo>
                <a:lnTo>
                  <a:pt x="11181615" y="3192606"/>
                </a:lnTo>
                <a:lnTo>
                  <a:pt x="0" y="3192606"/>
                </a:lnTo>
                <a:lnTo>
                  <a:pt x="0" y="0"/>
                </a:lnTo>
                <a:close/>
              </a:path>
            </a:pathLst>
          </a:custGeom>
          <a:blipFill>
            <a:blip r:embed="rId2"/>
            <a:stretch>
              <a:fillRect r="-1070"/>
            </a:stretch>
          </a:blipFill>
        </p:spPr>
        <p:txBody>
          <a:bodyPr/>
          <a:lstStyle/>
          <a:p>
            <a:endParaRPr lang="en-US"/>
          </a:p>
        </p:txBody>
      </p:sp>
      <p:grpSp>
        <p:nvGrpSpPr>
          <p:cNvPr id="3" name="Group 3"/>
          <p:cNvGrpSpPr/>
          <p:nvPr/>
        </p:nvGrpSpPr>
        <p:grpSpPr>
          <a:xfrm>
            <a:off x="12688788" y="252959"/>
            <a:ext cx="5599212" cy="1558977"/>
            <a:chOff x="0" y="0"/>
            <a:chExt cx="1474689" cy="410595"/>
          </a:xfrm>
        </p:grpSpPr>
        <p:sp>
          <p:nvSpPr>
            <p:cNvPr id="4" name="Freeform 4"/>
            <p:cNvSpPr/>
            <p:nvPr/>
          </p:nvSpPr>
          <p:spPr>
            <a:xfrm>
              <a:off x="0" y="0"/>
              <a:ext cx="1474689" cy="410595"/>
            </a:xfrm>
            <a:custGeom>
              <a:avLst/>
              <a:gdLst/>
              <a:ahLst/>
              <a:cxnLst/>
              <a:rect l="l" t="t" r="r" b="b"/>
              <a:pathLst>
                <a:path w="1474689" h="410595">
                  <a:moveTo>
                    <a:pt x="0" y="0"/>
                  </a:moveTo>
                  <a:lnTo>
                    <a:pt x="1474689" y="0"/>
                  </a:lnTo>
                  <a:lnTo>
                    <a:pt x="1474689" y="410595"/>
                  </a:lnTo>
                  <a:lnTo>
                    <a:pt x="0" y="410595"/>
                  </a:lnTo>
                  <a:close/>
                </a:path>
              </a:pathLst>
            </a:custGeom>
            <a:solidFill>
              <a:srgbClr val="F6F6F6"/>
            </a:solidFill>
          </p:spPr>
          <p:txBody>
            <a:bodyPr/>
            <a:lstStyle/>
            <a:p>
              <a:endParaRPr lang="en-US"/>
            </a:p>
          </p:txBody>
        </p:sp>
        <p:sp>
          <p:nvSpPr>
            <p:cNvPr id="5" name="TextBox 5"/>
            <p:cNvSpPr txBox="1"/>
            <p:nvPr/>
          </p:nvSpPr>
          <p:spPr>
            <a:xfrm>
              <a:off x="0" y="-47625"/>
              <a:ext cx="1474689" cy="45822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2521367" y="343592"/>
            <a:ext cx="5599212" cy="1196883"/>
          </a:xfrm>
          <a:custGeom>
            <a:avLst/>
            <a:gdLst/>
            <a:ahLst/>
            <a:cxnLst/>
            <a:rect l="l" t="t" r="r" b="b"/>
            <a:pathLst>
              <a:path w="5599212" h="1196883">
                <a:moveTo>
                  <a:pt x="0" y="0"/>
                </a:moveTo>
                <a:lnTo>
                  <a:pt x="5599212" y="0"/>
                </a:lnTo>
                <a:lnTo>
                  <a:pt x="5599212" y="1196883"/>
                </a:lnTo>
                <a:lnTo>
                  <a:pt x="0" y="1196883"/>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3856296" y="413666"/>
            <a:ext cx="8239398" cy="2720340"/>
          </a:xfrm>
          <a:prstGeom prst="rect">
            <a:avLst/>
          </a:prstGeom>
        </p:spPr>
        <p:txBody>
          <a:bodyPr lIns="0" tIns="0" rIns="0" bIns="0" rtlCol="0" anchor="t">
            <a:spAutoFit/>
          </a:bodyPr>
          <a:lstStyle/>
          <a:p>
            <a:pPr algn="l">
              <a:lnSpc>
                <a:spcPts val="5459"/>
              </a:lnSpc>
            </a:pPr>
            <a:r>
              <a:rPr lang="en-US" sz="3899" b="1">
                <a:solidFill>
                  <a:srgbClr val="000000"/>
                </a:solidFill>
                <a:latin typeface="Canva Sans Bold"/>
                <a:ea typeface="Canva Sans Bold"/>
                <a:cs typeface="Canva Sans Bold"/>
                <a:sym typeface="Canva Sans Bold"/>
              </a:rPr>
              <a:t>SP25-BL-INFO I590 </a:t>
            </a:r>
          </a:p>
          <a:p>
            <a:pPr algn="l">
              <a:lnSpc>
                <a:spcPts val="5459"/>
              </a:lnSpc>
            </a:pPr>
            <a:r>
              <a:rPr lang="en-US" sz="3899" b="1">
                <a:solidFill>
                  <a:srgbClr val="000000"/>
                </a:solidFill>
                <a:latin typeface="Canva Sans Bold"/>
                <a:ea typeface="Canva Sans Bold"/>
                <a:cs typeface="Canva Sans Bold"/>
                <a:sym typeface="Canva Sans Bold"/>
              </a:rPr>
              <a:t>Data Visualization</a:t>
            </a:r>
          </a:p>
          <a:p>
            <a:pPr algn="l">
              <a:lnSpc>
                <a:spcPts val="5459"/>
              </a:lnSpc>
            </a:pPr>
            <a:endParaRPr lang="en-US" sz="3899" b="1">
              <a:solidFill>
                <a:srgbClr val="000000"/>
              </a:solidFill>
              <a:latin typeface="Canva Sans Bold"/>
              <a:ea typeface="Canva Sans Bold"/>
              <a:cs typeface="Canva Sans Bold"/>
              <a:sym typeface="Canva Sans Bold"/>
            </a:endParaRPr>
          </a:p>
          <a:p>
            <a:pPr algn="l">
              <a:lnSpc>
                <a:spcPts val="5459"/>
              </a:lnSpc>
            </a:pPr>
            <a:endParaRPr lang="en-US" sz="3899" b="1">
              <a:solidFill>
                <a:srgbClr val="000000"/>
              </a:solidFill>
              <a:latin typeface="Canva Sans Bold"/>
              <a:ea typeface="Canva Sans Bold"/>
              <a:cs typeface="Canva Sans Bold"/>
              <a:sym typeface="Canva Sans Bold"/>
            </a:endParaRPr>
          </a:p>
        </p:txBody>
      </p:sp>
      <p:sp>
        <p:nvSpPr>
          <p:cNvPr id="8" name="TextBox 8"/>
          <p:cNvSpPr txBox="1"/>
          <p:nvPr/>
        </p:nvSpPr>
        <p:spPr>
          <a:xfrm>
            <a:off x="1605687" y="3509797"/>
            <a:ext cx="7176377" cy="2774029"/>
          </a:xfrm>
          <a:prstGeom prst="rect">
            <a:avLst/>
          </a:prstGeom>
        </p:spPr>
        <p:txBody>
          <a:bodyPr lIns="0" tIns="0" rIns="0" bIns="0" rtlCol="0" anchor="t">
            <a:spAutoFit/>
          </a:bodyPr>
          <a:lstStyle/>
          <a:p>
            <a:pPr algn="l">
              <a:lnSpc>
                <a:spcPts val="5459"/>
              </a:lnSpc>
            </a:pPr>
            <a:r>
              <a:rPr lang="en-US" sz="3899" dirty="0">
                <a:solidFill>
                  <a:srgbClr val="000000"/>
                </a:solidFill>
                <a:latin typeface="Canva Sans"/>
                <a:ea typeface="Canva Sans"/>
                <a:cs typeface="Canva Sans"/>
                <a:sym typeface="Canva Sans"/>
              </a:rPr>
              <a:t>Final Project Presentation</a:t>
            </a:r>
          </a:p>
          <a:p>
            <a:pPr algn="l">
              <a:lnSpc>
                <a:spcPts val="5459"/>
              </a:lnSpc>
            </a:pPr>
            <a:r>
              <a:rPr lang="en-US" sz="3899" b="1" dirty="0">
                <a:solidFill>
                  <a:srgbClr val="000000"/>
                </a:solidFill>
                <a:latin typeface="Canva Sans Bold"/>
                <a:ea typeface="Canva Sans Bold"/>
                <a:cs typeface="Canva Sans Bold"/>
                <a:sym typeface="Canva Sans Bold"/>
              </a:rPr>
              <a:t>Analyzing U.S. Immigration and H-1B Visa Trends </a:t>
            </a:r>
            <a:r>
              <a:rPr lang="en-US" sz="3899" b="1">
                <a:solidFill>
                  <a:srgbClr val="000000"/>
                </a:solidFill>
                <a:latin typeface="Canva Sans Bold"/>
                <a:ea typeface="Canva Sans Bold"/>
                <a:cs typeface="Canva Sans Bold"/>
                <a:sym typeface="Canva Sans Bold"/>
              </a:rPr>
              <a:t>(2020-2024)</a:t>
            </a:r>
            <a:endParaRPr lang="en-US" sz="3899" b="1" dirty="0">
              <a:solidFill>
                <a:srgbClr val="000000"/>
              </a:solidFill>
              <a:latin typeface="Canva Sans Bold"/>
              <a:ea typeface="Canva Sans Bold"/>
              <a:cs typeface="Canva Sans Bold"/>
              <a:sym typeface="Canva Sans Bold"/>
            </a:endParaRPr>
          </a:p>
        </p:txBody>
      </p:sp>
      <p:sp>
        <p:nvSpPr>
          <p:cNvPr id="9" name="TextBox 9"/>
          <p:cNvSpPr txBox="1"/>
          <p:nvPr/>
        </p:nvSpPr>
        <p:spPr>
          <a:xfrm>
            <a:off x="10498475" y="5173133"/>
            <a:ext cx="6192305" cy="5591274"/>
          </a:xfrm>
          <a:prstGeom prst="rect">
            <a:avLst/>
          </a:prstGeom>
        </p:spPr>
        <p:txBody>
          <a:bodyPr lIns="0" tIns="0" rIns="0" bIns="0" rtlCol="0" anchor="t">
            <a:spAutoFit/>
          </a:bodyPr>
          <a:lstStyle/>
          <a:p>
            <a:pPr algn="l">
              <a:lnSpc>
                <a:spcPts val="3359"/>
              </a:lnSpc>
            </a:pPr>
            <a:r>
              <a:rPr lang="en-US" sz="2399" b="1" dirty="0">
                <a:solidFill>
                  <a:srgbClr val="000000"/>
                </a:solidFill>
                <a:latin typeface="Canva Sans Bold"/>
                <a:ea typeface="Canva Sans Bold"/>
                <a:cs typeface="Canva Sans Bold"/>
                <a:sym typeface="Canva Sans Bold"/>
              </a:rPr>
              <a:t>Presentation By</a:t>
            </a:r>
          </a:p>
          <a:p>
            <a:pPr algn="l">
              <a:lnSpc>
                <a:spcPts val="3359"/>
              </a:lnSpc>
            </a:pPr>
            <a:r>
              <a:rPr lang="en-US" sz="2399" b="1" dirty="0">
                <a:solidFill>
                  <a:srgbClr val="000000"/>
                </a:solidFill>
                <a:latin typeface="Canva Sans Bold"/>
                <a:ea typeface="Canva Sans Bold"/>
                <a:cs typeface="Canva Sans Bold"/>
                <a:sym typeface="Canva Sans Bold"/>
              </a:rPr>
              <a:t>Kishore Kumar Ramkumar </a:t>
            </a:r>
            <a:r>
              <a:rPr lang="en-US" sz="2399" dirty="0">
                <a:solidFill>
                  <a:srgbClr val="000000"/>
                </a:solidFill>
                <a:latin typeface="Canva Sans"/>
                <a:ea typeface="Canva Sans"/>
                <a:cs typeface="Canva Sans"/>
                <a:sym typeface="Canva Sans"/>
              </a:rPr>
              <a:t>(</a:t>
            </a:r>
            <a:r>
              <a:rPr lang="en-US" sz="2399" dirty="0" err="1">
                <a:solidFill>
                  <a:srgbClr val="000000"/>
                </a:solidFill>
                <a:latin typeface="Canva Sans"/>
                <a:ea typeface="Canva Sans"/>
                <a:cs typeface="Canva Sans"/>
                <a:sym typeface="Canva Sans"/>
              </a:rPr>
              <a:t>kramkum@iu.edu</a:t>
            </a:r>
            <a:r>
              <a:rPr lang="en-US" sz="2399" dirty="0">
                <a:solidFill>
                  <a:srgbClr val="000000"/>
                </a:solidFill>
                <a:latin typeface="Canva Sans"/>
                <a:ea typeface="Canva Sans"/>
                <a:cs typeface="Canva Sans"/>
                <a:sym typeface="Canva Sans"/>
              </a:rPr>
              <a:t>) </a:t>
            </a:r>
          </a:p>
          <a:p>
            <a:pPr algn="l">
              <a:lnSpc>
                <a:spcPts val="3359"/>
              </a:lnSpc>
            </a:pPr>
            <a:r>
              <a:rPr lang="en-US" sz="2399" b="1" dirty="0">
                <a:solidFill>
                  <a:srgbClr val="000000"/>
                </a:solidFill>
                <a:latin typeface="Canva Sans Bold"/>
                <a:ea typeface="Canva Sans Bold"/>
                <a:cs typeface="Canva Sans Bold"/>
                <a:sym typeface="Canva Sans Bold"/>
              </a:rPr>
              <a:t>Mohammed Fahad Shahul Hameed </a:t>
            </a:r>
            <a:r>
              <a:rPr lang="en-US" sz="2399" dirty="0">
                <a:solidFill>
                  <a:srgbClr val="000000"/>
                </a:solidFill>
                <a:latin typeface="Canva Sans"/>
                <a:ea typeface="Canva Sans"/>
                <a:cs typeface="Canva Sans"/>
                <a:sym typeface="Canva Sans"/>
              </a:rPr>
              <a:t>(moshahul@iu.edu)</a:t>
            </a:r>
            <a:r>
              <a:rPr lang="en-US" sz="2399" b="1" dirty="0">
                <a:solidFill>
                  <a:srgbClr val="000000"/>
                </a:solidFill>
                <a:latin typeface="Canva Sans Bold"/>
                <a:ea typeface="Canva Sans Bold"/>
                <a:cs typeface="Canva Sans Bold"/>
                <a:sym typeface="Canva Sans Bold"/>
              </a:rPr>
              <a:t> </a:t>
            </a:r>
          </a:p>
          <a:p>
            <a:pPr algn="l">
              <a:lnSpc>
                <a:spcPts val="3359"/>
              </a:lnSpc>
            </a:pPr>
            <a:r>
              <a:rPr lang="en-US" sz="2399" b="1" dirty="0">
                <a:solidFill>
                  <a:srgbClr val="000000"/>
                </a:solidFill>
                <a:latin typeface="Canva Sans Bold"/>
                <a:ea typeface="Canva Sans Bold"/>
                <a:cs typeface="Canva Sans Bold"/>
                <a:sym typeface="Canva Sans Bold"/>
              </a:rPr>
              <a:t>Ramcharan Suresh </a:t>
            </a:r>
          </a:p>
          <a:p>
            <a:pPr algn="l">
              <a:lnSpc>
                <a:spcPts val="3359"/>
              </a:lnSpc>
            </a:pPr>
            <a:r>
              <a:rPr lang="en-US" sz="2399" dirty="0">
                <a:solidFill>
                  <a:srgbClr val="000000"/>
                </a:solidFill>
                <a:latin typeface="Canva Sans"/>
                <a:ea typeface="Canva Sans"/>
                <a:cs typeface="Canva Sans"/>
                <a:sym typeface="Canva Sans"/>
              </a:rPr>
              <a:t>(</a:t>
            </a:r>
            <a:r>
              <a:rPr lang="en-US" sz="2399" dirty="0" err="1">
                <a:solidFill>
                  <a:srgbClr val="000000"/>
                </a:solidFill>
                <a:latin typeface="Canva Sans"/>
                <a:ea typeface="Canva Sans"/>
                <a:cs typeface="Canva Sans"/>
                <a:sym typeface="Canva Sans"/>
              </a:rPr>
              <a:t>rasuresh@iu.edu</a:t>
            </a:r>
            <a:r>
              <a:rPr lang="en-US" sz="2399" dirty="0">
                <a:solidFill>
                  <a:srgbClr val="000000"/>
                </a:solidFill>
                <a:latin typeface="Canva Sans"/>
                <a:ea typeface="Canva Sans"/>
                <a:cs typeface="Canva Sans"/>
                <a:sym typeface="Canva Sans"/>
              </a:rPr>
              <a:t>)</a:t>
            </a:r>
          </a:p>
          <a:p>
            <a:pPr algn="l">
              <a:lnSpc>
                <a:spcPts val="3359"/>
              </a:lnSpc>
            </a:pPr>
            <a:r>
              <a:rPr lang="en-US" sz="2399" b="1" dirty="0">
                <a:solidFill>
                  <a:srgbClr val="000000"/>
                </a:solidFill>
                <a:latin typeface="Canva Sans Bold"/>
                <a:ea typeface="Canva Sans Bold"/>
                <a:cs typeface="Canva Sans Bold"/>
                <a:sym typeface="Canva Sans Bold"/>
              </a:rPr>
              <a:t>Santhosh Kumaar Rajan</a:t>
            </a:r>
          </a:p>
          <a:p>
            <a:pPr algn="l">
              <a:lnSpc>
                <a:spcPts val="3359"/>
              </a:lnSpc>
            </a:pPr>
            <a:r>
              <a:rPr lang="en-US" sz="2399" dirty="0">
                <a:solidFill>
                  <a:srgbClr val="000000"/>
                </a:solidFill>
                <a:latin typeface="Canva Sans"/>
                <a:ea typeface="Canva Sans"/>
                <a:cs typeface="Canva Sans"/>
                <a:sym typeface="Canva Sans"/>
              </a:rPr>
              <a:t>(</a:t>
            </a:r>
            <a:r>
              <a:rPr lang="en-US" sz="2399" dirty="0" err="1">
                <a:solidFill>
                  <a:srgbClr val="000000"/>
                </a:solidFill>
                <a:latin typeface="Canva Sans"/>
                <a:ea typeface="Canva Sans"/>
                <a:cs typeface="Canva Sans"/>
                <a:sym typeface="Canva Sans"/>
              </a:rPr>
              <a:t>rajansa@iu.edu</a:t>
            </a:r>
            <a:r>
              <a:rPr lang="en-US" sz="2399" dirty="0">
                <a:solidFill>
                  <a:srgbClr val="000000"/>
                </a:solidFill>
                <a:latin typeface="Canva Sans"/>
                <a:ea typeface="Canva Sans"/>
                <a:cs typeface="Canva Sans"/>
                <a:sym typeface="Canva Sans"/>
              </a:rPr>
              <a:t>)</a:t>
            </a:r>
          </a:p>
          <a:p>
            <a:pPr algn="l">
              <a:lnSpc>
                <a:spcPts val="3359"/>
              </a:lnSpc>
            </a:pPr>
            <a:r>
              <a:rPr lang="en-US" sz="2399" b="1" dirty="0" err="1">
                <a:solidFill>
                  <a:srgbClr val="000000"/>
                </a:solidFill>
                <a:latin typeface="Canva Sans Bold"/>
                <a:ea typeface="Canva Sans Bold"/>
                <a:cs typeface="Canva Sans Bold"/>
                <a:sym typeface="Canva Sans Bold"/>
              </a:rPr>
              <a:t>Mouryan</a:t>
            </a:r>
            <a:r>
              <a:rPr lang="en-US" sz="2399" dirty="0">
                <a:solidFill>
                  <a:srgbClr val="000000"/>
                </a:solidFill>
                <a:latin typeface="Canva Sans"/>
                <a:ea typeface="Canva Sans"/>
                <a:cs typeface="Canva Sans"/>
                <a:sym typeface="Canva Sans"/>
              </a:rPr>
              <a:t> </a:t>
            </a:r>
            <a:r>
              <a:rPr lang="en-US" sz="2399" b="1" dirty="0">
                <a:solidFill>
                  <a:srgbClr val="000000"/>
                </a:solidFill>
                <a:latin typeface="Canva Sans"/>
                <a:ea typeface="Canva Sans"/>
                <a:cs typeface="Canva Sans"/>
                <a:sym typeface="Canva Sans"/>
              </a:rPr>
              <a:t>Jayasankar</a:t>
            </a:r>
          </a:p>
          <a:p>
            <a:pPr algn="l">
              <a:lnSpc>
                <a:spcPts val="3359"/>
              </a:lnSpc>
            </a:pPr>
            <a:r>
              <a:rPr lang="en-US" sz="2399" dirty="0">
                <a:solidFill>
                  <a:srgbClr val="000000"/>
                </a:solidFill>
                <a:latin typeface="Canva Sans"/>
                <a:ea typeface="Canva Sans"/>
                <a:cs typeface="Canva Sans"/>
                <a:sym typeface="Canva Sans"/>
              </a:rPr>
              <a:t>(</a:t>
            </a:r>
            <a:r>
              <a:rPr lang="en-US" sz="2399" dirty="0" err="1">
                <a:solidFill>
                  <a:srgbClr val="000000"/>
                </a:solidFill>
                <a:latin typeface="Canva Sans"/>
                <a:ea typeface="Canva Sans"/>
                <a:cs typeface="Canva Sans"/>
                <a:sym typeface="Canva Sans"/>
              </a:rPr>
              <a:t>mjayasan@iu.edu</a:t>
            </a:r>
            <a:r>
              <a:rPr lang="en-US" sz="2399" dirty="0">
                <a:solidFill>
                  <a:srgbClr val="000000"/>
                </a:solidFill>
                <a:latin typeface="Canva Sans"/>
                <a:ea typeface="Canva Sans"/>
                <a:cs typeface="Canva Sans"/>
                <a:sym typeface="Canva Sans"/>
              </a:rPr>
              <a:t>)</a:t>
            </a:r>
          </a:p>
          <a:p>
            <a:pPr algn="l">
              <a:lnSpc>
                <a:spcPts val="3359"/>
              </a:lnSpc>
            </a:pPr>
            <a:endParaRPr lang="en-US" sz="2399" dirty="0">
              <a:solidFill>
                <a:srgbClr val="000000"/>
              </a:solidFill>
              <a:latin typeface="Canva Sans"/>
              <a:ea typeface="Canva Sans"/>
              <a:cs typeface="Canva Sans"/>
              <a:sym typeface="Canva Sans"/>
            </a:endParaRPr>
          </a:p>
          <a:p>
            <a:pPr algn="l">
              <a:lnSpc>
                <a:spcPts val="2800"/>
              </a:lnSpc>
            </a:pPr>
            <a:endParaRPr lang="en-US" sz="2399" dirty="0">
              <a:solidFill>
                <a:srgbClr val="000000"/>
              </a:solidFill>
              <a:latin typeface="Canva Sans"/>
              <a:ea typeface="Canva Sans"/>
              <a:cs typeface="Canva Sans"/>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553699"/>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737729" y="762314"/>
            <a:ext cx="15147385" cy="6906574"/>
          </a:xfrm>
          <a:prstGeom prst="rect">
            <a:avLst/>
          </a:prstGeom>
        </p:spPr>
        <p:txBody>
          <a:bodyPr lIns="0" tIns="0" rIns="0" bIns="0" rtlCol="0" anchor="t">
            <a:spAutoFit/>
          </a:bodyPr>
          <a:lstStyle/>
          <a:p>
            <a:pPr algn="just">
              <a:lnSpc>
                <a:spcPts val="5694"/>
              </a:lnSpc>
              <a:spcBef>
                <a:spcPct val="0"/>
              </a:spcBef>
            </a:pPr>
            <a:r>
              <a:rPr lang="en-US" sz="4067" b="1">
                <a:solidFill>
                  <a:srgbClr val="000000"/>
                </a:solidFill>
                <a:latin typeface="Canva Sans Bold"/>
                <a:ea typeface="Canva Sans Bold"/>
                <a:cs typeface="Canva Sans Bold"/>
                <a:sym typeface="Canva Sans Bold"/>
              </a:rPr>
              <a:t>Introduction</a:t>
            </a:r>
          </a:p>
          <a:p>
            <a:pPr algn="just">
              <a:lnSpc>
                <a:spcPts val="5694"/>
              </a:lnSpc>
              <a:spcBef>
                <a:spcPct val="0"/>
              </a:spcBef>
            </a:pPr>
            <a:endParaRPr lang="en-US" sz="4067" b="1">
              <a:solidFill>
                <a:srgbClr val="000000"/>
              </a:solidFill>
              <a:latin typeface="Canva Sans Bold"/>
              <a:ea typeface="Canva Sans Bold"/>
              <a:cs typeface="Canva Sans Bold"/>
              <a:sym typeface="Canva Sans Bold"/>
            </a:endParaRP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Our project leverages H1B LCA disclosure data from 2020 to 2024 which has been pre processed and cleaned to explore wage practices and employer behaviors in the H1B visa program. </a:t>
            </a: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By examining offered wages, prevailing wages, and additional employer attributes, we aim to uncover trends and patterns that reveal how employers position themselves when hiring H1B workers. </a:t>
            </a: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This analysis not only deepens our understanding of wage compliance but also informs discussions on fair labor practices and regulatory enforcement in a highly competitive market.</a:t>
            </a:r>
          </a:p>
          <a:p>
            <a:pPr algn="just">
              <a:lnSpc>
                <a:spcPts val="3650"/>
              </a:lnSpc>
              <a:spcBef>
                <a:spcPct val="0"/>
              </a:spcBef>
            </a:pPr>
            <a:endParaRPr lang="en-US" sz="2607">
              <a:solidFill>
                <a:srgbClr val="000000"/>
              </a:solidFill>
              <a:latin typeface="Canva Sans"/>
              <a:ea typeface="Canva Sans"/>
              <a:cs typeface="Canva Sans"/>
              <a:sym typeface="Canva Sans"/>
            </a:endParaRPr>
          </a:p>
          <a:p>
            <a:pPr algn="just">
              <a:lnSpc>
                <a:spcPts val="3650"/>
              </a:lnSpc>
              <a:spcBef>
                <a:spcPct val="0"/>
              </a:spcBef>
            </a:pPr>
            <a:endParaRPr lang="en-US" sz="2607">
              <a:solidFill>
                <a:srgbClr val="000000"/>
              </a:solidFill>
              <a:latin typeface="Canva Sans"/>
              <a:ea typeface="Canva Sans"/>
              <a:cs typeface="Canva Sans"/>
              <a:sym typeface="Canva Sans"/>
            </a:endParaRPr>
          </a:p>
          <a:p>
            <a:pPr algn="just">
              <a:lnSpc>
                <a:spcPts val="3650"/>
              </a:lnSpc>
              <a:spcBef>
                <a:spcPct val="0"/>
              </a:spcBef>
            </a:pPr>
            <a:endParaRPr lang="en-US" sz="2607">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 </a:t>
              </a: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553699"/>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204298" y="696705"/>
            <a:ext cx="13843780" cy="8283816"/>
          </a:xfrm>
          <a:prstGeom prst="rect">
            <a:avLst/>
          </a:prstGeom>
        </p:spPr>
        <p:txBody>
          <a:bodyPr lIns="0" tIns="0" rIns="0" bIns="0" rtlCol="0" anchor="t">
            <a:spAutoFit/>
          </a:bodyPr>
          <a:lstStyle/>
          <a:p>
            <a:pPr algn="just">
              <a:lnSpc>
                <a:spcPts val="4920"/>
              </a:lnSpc>
            </a:pPr>
            <a:r>
              <a:rPr lang="en-US" sz="3514" b="1">
                <a:solidFill>
                  <a:srgbClr val="000000"/>
                </a:solidFill>
                <a:latin typeface="Canva Sans Bold"/>
                <a:ea typeface="Canva Sans Bold"/>
                <a:cs typeface="Canva Sans Bold"/>
                <a:sym typeface="Canva Sans Bold"/>
              </a:rPr>
              <a:t>Motivation</a:t>
            </a:r>
          </a:p>
          <a:p>
            <a:pPr algn="just">
              <a:lnSpc>
                <a:spcPts val="3469"/>
              </a:lnSpc>
            </a:pPr>
            <a:endParaRPr lang="en-US" sz="3514" b="1">
              <a:solidFill>
                <a:srgbClr val="000000"/>
              </a:solidFill>
              <a:latin typeface="Canva Sans Bold"/>
              <a:ea typeface="Canva Sans Bold"/>
              <a:cs typeface="Canva Sans Bold"/>
              <a:sym typeface="Canva Sans Bold"/>
            </a:endParaRPr>
          </a:p>
          <a:p>
            <a:pPr marL="534984" lvl="1" indent="-267492" algn="just">
              <a:lnSpc>
                <a:spcPts val="3469"/>
              </a:lnSpc>
              <a:buFont typeface="Arial"/>
              <a:buChar char="•"/>
            </a:pPr>
            <a:r>
              <a:rPr lang="en-US" sz="2477">
                <a:solidFill>
                  <a:srgbClr val="000000"/>
                </a:solidFill>
                <a:latin typeface="Canva Sans"/>
                <a:ea typeface="Canva Sans"/>
                <a:cs typeface="Canva Sans"/>
                <a:sym typeface="Canva Sans"/>
              </a:rPr>
              <a:t>Ensuring that foreign workers receive wages that are competitive with local market standards is critical for economic fairness and social justice. </a:t>
            </a:r>
          </a:p>
          <a:p>
            <a:pPr algn="just">
              <a:lnSpc>
                <a:spcPts val="3469"/>
              </a:lnSpc>
            </a:pPr>
            <a:endParaRPr lang="en-US" sz="2477">
              <a:solidFill>
                <a:srgbClr val="000000"/>
              </a:solidFill>
              <a:latin typeface="Canva Sans"/>
              <a:ea typeface="Canva Sans"/>
              <a:cs typeface="Canva Sans"/>
              <a:sym typeface="Canva Sans"/>
            </a:endParaRPr>
          </a:p>
          <a:p>
            <a:pPr marL="534984" lvl="1" indent="-267492" algn="just">
              <a:lnSpc>
                <a:spcPts val="3469"/>
              </a:lnSpc>
              <a:buFont typeface="Arial"/>
              <a:buChar char="•"/>
            </a:pPr>
            <a:r>
              <a:rPr lang="en-US" sz="2477">
                <a:solidFill>
                  <a:srgbClr val="000000"/>
                </a:solidFill>
                <a:latin typeface="Canva Sans"/>
                <a:ea typeface="Canva Sans"/>
                <a:cs typeface="Canva Sans"/>
                <a:sym typeface="Canva Sans"/>
              </a:rPr>
              <a:t>Ensuring immigrant workers are compensated fairly is critical for economic equity</a:t>
            </a:r>
          </a:p>
          <a:p>
            <a:pPr algn="just">
              <a:lnSpc>
                <a:spcPts val="3469"/>
              </a:lnSpc>
            </a:pPr>
            <a:endParaRPr lang="en-US" sz="2477">
              <a:solidFill>
                <a:srgbClr val="000000"/>
              </a:solidFill>
              <a:latin typeface="Canva Sans"/>
              <a:ea typeface="Canva Sans"/>
              <a:cs typeface="Canva Sans"/>
              <a:sym typeface="Canva Sans"/>
            </a:endParaRPr>
          </a:p>
          <a:p>
            <a:pPr marL="534984" lvl="1" indent="-267492" algn="just">
              <a:lnSpc>
                <a:spcPts val="3469"/>
              </a:lnSpc>
              <a:buFont typeface="Arial"/>
              <a:buChar char="•"/>
            </a:pPr>
            <a:r>
              <a:rPr lang="en-US" sz="2477">
                <a:solidFill>
                  <a:srgbClr val="000000"/>
                </a:solidFill>
                <a:latin typeface="Canva Sans"/>
                <a:ea typeface="Canva Sans"/>
                <a:cs typeface="Canva Sans"/>
                <a:sym typeface="Canva Sans"/>
              </a:rPr>
              <a:t>Wage discrepancies can lead to exploitation and create imbalances in the labor market, affecting both the quality of life for immigrant workers and the broader economic landscape. </a:t>
            </a:r>
          </a:p>
          <a:p>
            <a:pPr algn="just">
              <a:lnSpc>
                <a:spcPts val="3469"/>
              </a:lnSpc>
            </a:pPr>
            <a:endParaRPr lang="en-US" sz="2477">
              <a:solidFill>
                <a:srgbClr val="000000"/>
              </a:solidFill>
              <a:latin typeface="Canva Sans"/>
              <a:ea typeface="Canva Sans"/>
              <a:cs typeface="Canva Sans"/>
              <a:sym typeface="Canva Sans"/>
            </a:endParaRPr>
          </a:p>
          <a:p>
            <a:pPr marL="534984" lvl="1" indent="-267492" algn="just">
              <a:lnSpc>
                <a:spcPts val="3469"/>
              </a:lnSpc>
              <a:buFont typeface="Arial"/>
              <a:buChar char="•"/>
            </a:pPr>
            <a:r>
              <a:rPr lang="en-US" sz="2477">
                <a:solidFill>
                  <a:srgbClr val="000000"/>
                </a:solidFill>
                <a:latin typeface="Canva Sans"/>
                <a:ea typeface="Canva Sans"/>
                <a:cs typeface="Canva Sans"/>
                <a:sym typeface="Canva Sans"/>
              </a:rPr>
              <a:t>Data-driven insights help expose wage discrepancies and support policy development.</a:t>
            </a:r>
          </a:p>
          <a:p>
            <a:pPr algn="just">
              <a:lnSpc>
                <a:spcPts val="3469"/>
              </a:lnSpc>
            </a:pPr>
            <a:endParaRPr lang="en-US" sz="2477">
              <a:solidFill>
                <a:srgbClr val="000000"/>
              </a:solidFill>
              <a:latin typeface="Canva Sans"/>
              <a:ea typeface="Canva Sans"/>
              <a:cs typeface="Canva Sans"/>
              <a:sym typeface="Canva Sans"/>
            </a:endParaRPr>
          </a:p>
          <a:p>
            <a:pPr marL="534984" lvl="1" indent="-267492" algn="just">
              <a:lnSpc>
                <a:spcPts val="3469"/>
              </a:lnSpc>
              <a:buFont typeface="Arial"/>
              <a:buChar char="•"/>
            </a:pPr>
            <a:r>
              <a:rPr lang="en-US" sz="2477">
                <a:solidFill>
                  <a:srgbClr val="000000"/>
                </a:solidFill>
                <a:latin typeface="Canva Sans"/>
                <a:ea typeface="Canva Sans"/>
                <a:cs typeface="Canva Sans"/>
                <a:sym typeface="Canva Sans"/>
              </a:rPr>
              <a:t>Our project connects these real-world issues to the power of data visualization by transforming complex datasets into clear, actionable insights. By doing so, we aim to support policymakers, industry leaders, and the public in addressing labor fairness and compliance challenges.</a:t>
            </a:r>
          </a:p>
          <a:p>
            <a:pPr algn="just">
              <a:lnSpc>
                <a:spcPts val="3469"/>
              </a:lnSpc>
            </a:pPr>
            <a:endParaRPr lang="en-US" sz="2477">
              <a:solidFill>
                <a:srgbClr val="000000"/>
              </a:solidFill>
              <a:latin typeface="Canva Sans"/>
              <a:ea typeface="Canva Sans"/>
              <a:cs typeface="Canva Sans"/>
              <a:sym typeface="Canva Sans"/>
            </a:endParaRPr>
          </a:p>
          <a:p>
            <a:pPr algn="just">
              <a:lnSpc>
                <a:spcPts val="1702"/>
              </a:lnSpc>
              <a:spcBef>
                <a:spcPct val="0"/>
              </a:spcBef>
            </a:pPr>
            <a:endParaRPr lang="en-US" sz="2477">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 </a:t>
              </a: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503131"/>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2057488" y="1794116"/>
            <a:ext cx="15201812" cy="5934949"/>
          </a:xfrm>
          <a:prstGeom prst="rect">
            <a:avLst/>
          </a:prstGeom>
        </p:spPr>
        <p:txBody>
          <a:bodyPr lIns="0" tIns="0" rIns="0" bIns="0" rtlCol="0" anchor="t">
            <a:spAutoFit/>
          </a:bodyPr>
          <a:lstStyle/>
          <a:p>
            <a:pPr algn="just">
              <a:lnSpc>
                <a:spcPts val="3626"/>
              </a:lnSpc>
            </a:pPr>
            <a:r>
              <a:rPr lang="en-US" sz="2590">
                <a:solidFill>
                  <a:srgbClr val="000000"/>
                </a:solidFill>
                <a:latin typeface="Canva Sans"/>
                <a:ea typeface="Canva Sans"/>
                <a:cs typeface="Canva Sans"/>
                <a:sym typeface="Canva Sans"/>
              </a:rPr>
              <a:t>Our work is driven by several key questions:</a:t>
            </a:r>
          </a:p>
          <a:p>
            <a:pPr algn="just">
              <a:lnSpc>
                <a:spcPts val="3626"/>
              </a:lnSpc>
            </a:pPr>
            <a:endParaRPr lang="en-US" sz="2590">
              <a:solidFill>
                <a:srgbClr val="000000"/>
              </a:solidFill>
              <a:latin typeface="Canva Sans"/>
              <a:ea typeface="Canva Sans"/>
              <a:cs typeface="Canva Sans"/>
              <a:sym typeface="Canva Sans"/>
            </a:endParaRPr>
          </a:p>
          <a:p>
            <a:pPr marL="559182" lvl="1" indent="-279591" algn="just">
              <a:lnSpc>
                <a:spcPts val="3626"/>
              </a:lnSpc>
              <a:buFont typeface="Arial"/>
              <a:buChar char="•"/>
            </a:pPr>
            <a:r>
              <a:rPr lang="en-US" sz="2590">
                <a:solidFill>
                  <a:srgbClr val="000000"/>
                </a:solidFill>
                <a:latin typeface="Canva Sans"/>
                <a:ea typeface="Canva Sans"/>
                <a:cs typeface="Canva Sans"/>
                <a:sym typeface="Canva Sans"/>
              </a:rPr>
              <a:t>How do offered wages compare with prevailing wages across different occupations and regions?</a:t>
            </a:r>
          </a:p>
          <a:p>
            <a:pPr marL="559182" lvl="1" indent="-279591" algn="just">
              <a:lnSpc>
                <a:spcPts val="3626"/>
              </a:lnSpc>
              <a:buFont typeface="Arial"/>
              <a:buChar char="•"/>
            </a:pPr>
            <a:r>
              <a:rPr lang="en-US" sz="2590">
                <a:solidFill>
                  <a:srgbClr val="000000"/>
                </a:solidFill>
                <a:latin typeface="Canva Sans"/>
                <a:ea typeface="Canva Sans"/>
                <a:cs typeface="Canva Sans"/>
                <a:sym typeface="Canva Sans"/>
              </a:rPr>
              <a:t>Do employers that heavily rely on H1B workers display distinct wage practices compared to those that do not?</a:t>
            </a:r>
          </a:p>
          <a:p>
            <a:pPr marL="559182" lvl="1" indent="-279591" algn="just">
              <a:lnSpc>
                <a:spcPts val="3626"/>
              </a:lnSpc>
              <a:buFont typeface="Arial"/>
              <a:buChar char="•"/>
            </a:pPr>
            <a:r>
              <a:rPr lang="en-US" sz="2590">
                <a:solidFill>
                  <a:srgbClr val="000000"/>
                </a:solidFill>
                <a:latin typeface="Canva Sans"/>
                <a:ea typeface="Canva Sans"/>
                <a:cs typeface="Canva Sans"/>
                <a:sym typeface="Canva Sans"/>
              </a:rPr>
              <a:t>What geographic and temporal patterns can be discerned in H1B wage offers?</a:t>
            </a:r>
          </a:p>
          <a:p>
            <a:pPr marL="559182" lvl="1" indent="-279591" algn="just">
              <a:lnSpc>
                <a:spcPts val="3626"/>
              </a:lnSpc>
              <a:buFont typeface="Arial"/>
              <a:buChar char="•"/>
            </a:pPr>
            <a:r>
              <a:rPr lang="en-US" sz="2590">
                <a:solidFill>
                  <a:srgbClr val="000000"/>
                </a:solidFill>
                <a:latin typeface="Canva Sans"/>
                <a:ea typeface="Canva Sans"/>
                <a:cs typeface="Canva Sans"/>
                <a:sym typeface="Canva Sans"/>
              </a:rPr>
              <a:t>Does the involvement of legal representation influence wage levels? </a:t>
            </a:r>
          </a:p>
          <a:p>
            <a:pPr marL="559182" lvl="1" indent="-279591" algn="just">
              <a:lnSpc>
                <a:spcPts val="3626"/>
              </a:lnSpc>
              <a:buFont typeface="Arial"/>
              <a:buChar char="•"/>
            </a:pPr>
            <a:r>
              <a:rPr lang="en-US" sz="2590">
                <a:solidFill>
                  <a:srgbClr val="000000"/>
                </a:solidFill>
                <a:latin typeface="Canva Sans"/>
                <a:ea typeface="Canva Sans"/>
                <a:cs typeface="Canva Sans"/>
                <a:sym typeface="Canva Sans"/>
              </a:rPr>
              <a:t>Our goal is to create interactive, insightful visualizations that not only answer these questions but also provide actionable intelligence for improving labor standards and informing policy.</a:t>
            </a:r>
          </a:p>
          <a:p>
            <a:pPr algn="just">
              <a:lnSpc>
                <a:spcPts val="3626"/>
              </a:lnSpc>
            </a:pPr>
            <a:endParaRPr lang="en-US" sz="2590">
              <a:solidFill>
                <a:srgbClr val="000000"/>
              </a:solidFill>
              <a:latin typeface="Canva Sans"/>
              <a:ea typeface="Canva Sans"/>
              <a:cs typeface="Canva Sans"/>
              <a:sym typeface="Canva Sans"/>
            </a:endParaRPr>
          </a:p>
          <a:p>
            <a:pPr algn="just">
              <a:lnSpc>
                <a:spcPts val="3627"/>
              </a:lnSpc>
              <a:spcBef>
                <a:spcPct val="0"/>
              </a:spcBef>
            </a:pPr>
            <a:endParaRPr lang="en-US" sz="2590">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2057488" y="557762"/>
            <a:ext cx="6536092" cy="755015"/>
          </a:xfrm>
          <a:prstGeom prst="rect">
            <a:avLst/>
          </a:prstGeom>
        </p:spPr>
        <p:txBody>
          <a:bodyPr lIns="0" tIns="0" rIns="0" bIns="0" rtlCol="0" anchor="t">
            <a:spAutoFit/>
          </a:bodyPr>
          <a:lstStyle/>
          <a:p>
            <a:pPr algn="l">
              <a:lnSpc>
                <a:spcPts val="6160"/>
              </a:lnSpc>
              <a:spcBef>
                <a:spcPct val="0"/>
              </a:spcBef>
            </a:pPr>
            <a:r>
              <a:rPr lang="en-US" sz="4400" b="1">
                <a:solidFill>
                  <a:srgbClr val="000000"/>
                </a:solidFill>
                <a:latin typeface="Canva Sans Bold"/>
                <a:ea typeface="Canva Sans Bold"/>
                <a:cs typeface="Canva Sans Bold"/>
                <a:sym typeface="Canva Sans Bold"/>
              </a:rPr>
              <a:t>Questions and Goals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553699"/>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737729" y="762314"/>
            <a:ext cx="15147385" cy="6906574"/>
          </a:xfrm>
          <a:prstGeom prst="rect">
            <a:avLst/>
          </a:prstGeom>
        </p:spPr>
        <p:txBody>
          <a:bodyPr lIns="0" tIns="0" rIns="0" bIns="0" rtlCol="0" anchor="t">
            <a:spAutoFit/>
          </a:bodyPr>
          <a:lstStyle/>
          <a:p>
            <a:pPr algn="just">
              <a:lnSpc>
                <a:spcPts val="5694"/>
              </a:lnSpc>
              <a:spcBef>
                <a:spcPct val="0"/>
              </a:spcBef>
            </a:pPr>
            <a:r>
              <a:rPr lang="en-US" sz="4067" b="1">
                <a:solidFill>
                  <a:srgbClr val="000000"/>
                </a:solidFill>
                <a:latin typeface="Canva Sans Bold"/>
                <a:ea typeface="Canva Sans Bold"/>
                <a:cs typeface="Canva Sans Bold"/>
                <a:sym typeface="Canva Sans Bold"/>
              </a:rPr>
              <a:t>Research Questions</a:t>
            </a:r>
          </a:p>
          <a:p>
            <a:pPr algn="just">
              <a:lnSpc>
                <a:spcPts val="5694"/>
              </a:lnSpc>
              <a:spcBef>
                <a:spcPct val="0"/>
              </a:spcBef>
            </a:pPr>
            <a:endParaRPr lang="en-US" sz="4067" b="1">
              <a:solidFill>
                <a:srgbClr val="000000"/>
              </a:solidFill>
              <a:latin typeface="Canva Sans Bold"/>
              <a:ea typeface="Canva Sans Bold"/>
              <a:cs typeface="Canva Sans Bold"/>
              <a:sym typeface="Canva Sans Bold"/>
            </a:endParaRP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Our project leverages H1B LCA disclosure data from 2020 to 2024 which has been pre processed and cleaned to explore wage practices and employer behaviors in the H1B visa program. </a:t>
            </a: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By examining offered wages, prevailing wages, and additional employer attributes, we aim to uncover trends and patterns that reveal how employers position themselves when hiring H1B workers. </a:t>
            </a:r>
          </a:p>
          <a:p>
            <a:pPr marL="562970" lvl="1" indent="-281485" algn="just">
              <a:lnSpc>
                <a:spcPts val="3650"/>
              </a:lnSpc>
              <a:spcBef>
                <a:spcPct val="0"/>
              </a:spcBef>
              <a:buFont typeface="Arial"/>
              <a:buChar char="•"/>
            </a:pPr>
            <a:r>
              <a:rPr lang="en-US" sz="2607">
                <a:solidFill>
                  <a:srgbClr val="000000"/>
                </a:solidFill>
                <a:latin typeface="Canva Sans"/>
                <a:ea typeface="Canva Sans"/>
                <a:cs typeface="Canva Sans"/>
                <a:sym typeface="Canva Sans"/>
              </a:rPr>
              <a:t>This analysis not only deepens our understanding of wage compliance but also informs discussions on fair labor practices and regulatory enforcement in a highly competitive market.</a:t>
            </a:r>
          </a:p>
          <a:p>
            <a:pPr algn="just">
              <a:lnSpc>
                <a:spcPts val="3650"/>
              </a:lnSpc>
              <a:spcBef>
                <a:spcPct val="0"/>
              </a:spcBef>
            </a:pPr>
            <a:endParaRPr lang="en-US" sz="2607">
              <a:solidFill>
                <a:srgbClr val="000000"/>
              </a:solidFill>
              <a:latin typeface="Canva Sans"/>
              <a:ea typeface="Canva Sans"/>
              <a:cs typeface="Canva Sans"/>
              <a:sym typeface="Canva Sans"/>
            </a:endParaRPr>
          </a:p>
          <a:p>
            <a:pPr algn="just">
              <a:lnSpc>
                <a:spcPts val="3650"/>
              </a:lnSpc>
              <a:spcBef>
                <a:spcPct val="0"/>
              </a:spcBef>
            </a:pPr>
            <a:endParaRPr lang="en-US" sz="2607">
              <a:solidFill>
                <a:srgbClr val="000000"/>
              </a:solidFill>
              <a:latin typeface="Canva Sans"/>
              <a:ea typeface="Canva Sans"/>
              <a:cs typeface="Canva Sans"/>
              <a:sym typeface="Canva Sans"/>
            </a:endParaRPr>
          </a:p>
          <a:p>
            <a:pPr algn="just">
              <a:lnSpc>
                <a:spcPts val="3650"/>
              </a:lnSpc>
              <a:spcBef>
                <a:spcPct val="0"/>
              </a:spcBef>
            </a:pPr>
            <a:endParaRPr lang="en-US" sz="2607">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 </a:t>
              </a: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1339371"/>
            <a:ext cx="331657" cy="838387"/>
            <a:chOff x="0" y="0"/>
            <a:chExt cx="87350" cy="220810"/>
          </a:xfrm>
        </p:grpSpPr>
        <p:sp>
          <p:nvSpPr>
            <p:cNvPr id="3" name="Freeform 3"/>
            <p:cNvSpPr/>
            <p:nvPr/>
          </p:nvSpPr>
          <p:spPr>
            <a:xfrm>
              <a:off x="0" y="0"/>
              <a:ext cx="87350" cy="220810"/>
            </a:xfrm>
            <a:custGeom>
              <a:avLst/>
              <a:gdLst/>
              <a:ahLst/>
              <a:cxnLst/>
              <a:rect l="l" t="t" r="r" b="b"/>
              <a:pathLst>
                <a:path w="87350" h="220810">
                  <a:moveTo>
                    <a:pt x="0" y="0"/>
                  </a:moveTo>
                  <a:lnTo>
                    <a:pt x="87350" y="0"/>
                  </a:lnTo>
                  <a:lnTo>
                    <a:pt x="87350" y="220810"/>
                  </a:lnTo>
                  <a:lnTo>
                    <a:pt x="0" y="220810"/>
                  </a:lnTo>
                  <a:close/>
                </a:path>
              </a:pathLst>
            </a:custGeom>
            <a:solidFill>
              <a:srgbClr val="990201"/>
            </a:solidFill>
          </p:spPr>
          <p:txBody>
            <a:bodyPr/>
            <a:lstStyle/>
            <a:p>
              <a:endParaRPr lang="en-US"/>
            </a:p>
          </p:txBody>
        </p:sp>
        <p:sp>
          <p:nvSpPr>
            <p:cNvPr id="4" name="TextBox 4"/>
            <p:cNvSpPr txBox="1"/>
            <p:nvPr/>
          </p:nvSpPr>
          <p:spPr>
            <a:xfrm>
              <a:off x="0" y="-38100"/>
              <a:ext cx="87350" cy="258910"/>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028700" y="1516499"/>
            <a:ext cx="15500830" cy="5708428"/>
          </a:xfrm>
          <a:prstGeom prst="rect">
            <a:avLst/>
          </a:prstGeom>
        </p:spPr>
        <p:txBody>
          <a:bodyPr lIns="0" tIns="0" rIns="0" bIns="0" rtlCol="0" anchor="t">
            <a:spAutoFit/>
          </a:bodyPr>
          <a:lstStyle/>
          <a:p>
            <a:pPr algn="just">
              <a:lnSpc>
                <a:spcPts val="5753"/>
              </a:lnSpc>
            </a:pPr>
            <a:r>
              <a:rPr lang="en-US" sz="4109" b="1">
                <a:solidFill>
                  <a:srgbClr val="000000"/>
                </a:solidFill>
                <a:latin typeface="Canva Sans Bold"/>
                <a:ea typeface="Canva Sans Bold"/>
                <a:cs typeface="Canva Sans Bold"/>
                <a:sym typeface="Canva Sans Bold"/>
              </a:rPr>
              <a:t>Background &amp; Existing Work</a:t>
            </a:r>
          </a:p>
          <a:p>
            <a:pPr algn="just">
              <a:lnSpc>
                <a:spcPts val="3653"/>
              </a:lnSpc>
            </a:pPr>
            <a:endParaRPr lang="en-US" sz="4109" b="1">
              <a:solidFill>
                <a:srgbClr val="000000"/>
              </a:solidFill>
              <a:latin typeface="Canva Sans Bold"/>
              <a:ea typeface="Canva Sans Bold"/>
              <a:cs typeface="Canva Sans Bold"/>
              <a:sym typeface="Canva Sans Bold"/>
            </a:endParaRPr>
          </a:p>
          <a:p>
            <a:pPr algn="just">
              <a:lnSpc>
                <a:spcPts val="3653"/>
              </a:lnSpc>
            </a:pPr>
            <a:r>
              <a:rPr lang="en-US" sz="2610">
                <a:solidFill>
                  <a:srgbClr val="000000"/>
                </a:solidFill>
                <a:latin typeface="Canva Sans"/>
                <a:ea typeface="Canva Sans"/>
                <a:cs typeface="Canva Sans"/>
                <a:sym typeface="Canva Sans"/>
              </a:rPr>
              <a:t>Prior research and reports provide valuable insights into H-1B visa approvals, salary trends, and employer participation, but they have limitations:</a:t>
            </a:r>
          </a:p>
          <a:p>
            <a:pPr algn="just">
              <a:lnSpc>
                <a:spcPts val="3653"/>
              </a:lnSpc>
            </a:pPr>
            <a:r>
              <a:rPr lang="en-US" sz="2610">
                <a:solidFill>
                  <a:srgbClr val="000000"/>
                </a:solidFill>
                <a:latin typeface="Canva Sans"/>
                <a:ea typeface="Canva Sans"/>
                <a:cs typeface="Canva Sans"/>
                <a:sym typeface="Canva Sans"/>
              </a:rPr>
              <a:t>🔹 </a:t>
            </a:r>
            <a:r>
              <a:rPr lang="en-US" sz="2610" b="1">
                <a:solidFill>
                  <a:srgbClr val="000000"/>
                </a:solidFill>
                <a:latin typeface="Canva Sans Bold"/>
                <a:ea typeface="Canva Sans Bold"/>
                <a:cs typeface="Canva Sans Bold"/>
                <a:sym typeface="Canva Sans Bold"/>
              </a:rPr>
              <a:t>Static Reports:</a:t>
            </a:r>
            <a:r>
              <a:rPr lang="en-US" sz="2610">
                <a:solidFill>
                  <a:srgbClr val="000000"/>
                </a:solidFill>
                <a:latin typeface="Canva Sans"/>
                <a:ea typeface="Canva Sans"/>
                <a:cs typeface="Canva Sans"/>
                <a:sym typeface="Canva Sans"/>
              </a:rPr>
              <a:t> Existing government reports (USCIS, DHS) provide tabular datasets but lack interactive and comparative visualizations for deeper insights.</a:t>
            </a:r>
          </a:p>
          <a:p>
            <a:pPr algn="just">
              <a:lnSpc>
                <a:spcPts val="3653"/>
              </a:lnSpc>
            </a:pPr>
            <a:r>
              <a:rPr lang="en-US" sz="2610">
                <a:solidFill>
                  <a:srgbClr val="000000"/>
                </a:solidFill>
                <a:latin typeface="Canva Sans"/>
                <a:ea typeface="Canva Sans"/>
                <a:cs typeface="Canva Sans"/>
                <a:sym typeface="Canva Sans"/>
              </a:rPr>
              <a:t>🔹 </a:t>
            </a:r>
            <a:r>
              <a:rPr lang="en-US" sz="2610" b="1">
                <a:solidFill>
                  <a:srgbClr val="000000"/>
                </a:solidFill>
                <a:latin typeface="Canva Sans Bold"/>
                <a:ea typeface="Canva Sans Bold"/>
                <a:cs typeface="Canva Sans Bold"/>
                <a:sym typeface="Canva Sans Bold"/>
              </a:rPr>
              <a:t>Generalized Analysis: </a:t>
            </a:r>
            <a:r>
              <a:rPr lang="en-US" sz="2610">
                <a:solidFill>
                  <a:srgbClr val="000000"/>
                </a:solidFill>
                <a:latin typeface="Canva Sans"/>
                <a:ea typeface="Canva Sans"/>
                <a:cs typeface="Canva Sans"/>
                <a:sym typeface="Canva Sans"/>
              </a:rPr>
              <a:t>Most studies analyze immigration at a macro level, but few focus on industry-specific, salary-based, and employer-based trends in H-1B applications.</a:t>
            </a:r>
          </a:p>
          <a:p>
            <a:pPr algn="just">
              <a:lnSpc>
                <a:spcPts val="3653"/>
              </a:lnSpc>
            </a:pPr>
            <a:r>
              <a:rPr lang="en-US" sz="2610">
                <a:solidFill>
                  <a:srgbClr val="000000"/>
                </a:solidFill>
                <a:latin typeface="Canva Sans"/>
                <a:ea typeface="Canva Sans"/>
                <a:cs typeface="Canva Sans"/>
                <a:sym typeface="Canva Sans"/>
              </a:rPr>
              <a:t>🔹 </a:t>
            </a:r>
            <a:r>
              <a:rPr lang="en-US" sz="2610" b="1">
                <a:solidFill>
                  <a:srgbClr val="000000"/>
                </a:solidFill>
                <a:latin typeface="Canva Sans Bold"/>
                <a:ea typeface="Canva Sans Bold"/>
                <a:cs typeface="Canva Sans Bold"/>
                <a:sym typeface="Canva Sans Bold"/>
              </a:rPr>
              <a:t>Lack of Predictive Insights: </a:t>
            </a:r>
            <a:r>
              <a:rPr lang="en-US" sz="2610">
                <a:solidFill>
                  <a:srgbClr val="000000"/>
                </a:solidFill>
                <a:latin typeface="Canva Sans"/>
                <a:ea typeface="Canva Sans"/>
                <a:cs typeface="Canva Sans"/>
                <a:sym typeface="Canva Sans"/>
              </a:rPr>
              <a:t>Many reports track historical trends but do not forecast future H-1B approval trends or identify policy-driven shifts.</a:t>
            </a:r>
          </a:p>
          <a:p>
            <a:pPr algn="just">
              <a:lnSpc>
                <a:spcPts val="3653"/>
              </a:lnSpc>
            </a:pPr>
            <a:endParaRPr lang="en-US" sz="2610">
              <a:solidFill>
                <a:srgbClr val="000000"/>
              </a:solidFill>
              <a:latin typeface="Canva Sans"/>
              <a:ea typeface="Canva Sans"/>
              <a:cs typeface="Canva Sans"/>
              <a:sym typeface="Canva Sans"/>
            </a:endParaRPr>
          </a:p>
          <a:p>
            <a:pPr algn="just">
              <a:lnSpc>
                <a:spcPts val="3370"/>
              </a:lnSpc>
              <a:spcBef>
                <a:spcPct val="0"/>
              </a:spcBef>
            </a:pPr>
            <a:endParaRPr lang="en-US" sz="2610">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graphicFrame>
        <p:nvGraphicFramePr>
          <p:cNvPr id="9" name="Table 9"/>
          <p:cNvGraphicFramePr>
            <a:graphicFrameLocks noGrp="1"/>
          </p:cNvGraphicFramePr>
          <p:nvPr>
            <p:extLst>
              <p:ext uri="{D42A27DB-BD31-4B8C-83A1-F6EECF244321}">
                <p14:modId xmlns:p14="http://schemas.microsoft.com/office/powerpoint/2010/main" val="2018845374"/>
              </p:ext>
            </p:extLst>
          </p:nvPr>
        </p:nvGraphicFramePr>
        <p:xfrm>
          <a:off x="2048656" y="894561"/>
          <a:ext cx="15477344" cy="9201939"/>
        </p:xfrm>
        <a:graphic>
          <a:graphicData uri="http://schemas.openxmlformats.org/drawingml/2006/table">
            <a:tbl>
              <a:tblPr/>
              <a:tblGrid>
                <a:gridCol w="2968577">
                  <a:extLst>
                    <a:ext uri="{9D8B030D-6E8A-4147-A177-3AD203B41FA5}">
                      <a16:colId xmlns:a16="http://schemas.microsoft.com/office/drawing/2014/main" val="20000"/>
                    </a:ext>
                  </a:extLst>
                </a:gridCol>
                <a:gridCol w="5345388">
                  <a:extLst>
                    <a:ext uri="{9D8B030D-6E8A-4147-A177-3AD203B41FA5}">
                      <a16:colId xmlns:a16="http://schemas.microsoft.com/office/drawing/2014/main" val="20001"/>
                    </a:ext>
                  </a:extLst>
                </a:gridCol>
                <a:gridCol w="7163379">
                  <a:extLst>
                    <a:ext uri="{9D8B030D-6E8A-4147-A177-3AD203B41FA5}">
                      <a16:colId xmlns:a16="http://schemas.microsoft.com/office/drawing/2014/main" val="20002"/>
                    </a:ext>
                  </a:extLst>
                </a:gridCol>
              </a:tblGrid>
              <a:tr h="844969">
                <a:tc>
                  <a:txBody>
                    <a:bodyPr/>
                    <a:lstStyle/>
                    <a:p>
                      <a:pPr algn="ctr">
                        <a:lnSpc>
                          <a:spcPts val="2160"/>
                        </a:lnSpc>
                        <a:defRPr/>
                      </a:pPr>
                      <a:r>
                        <a:rPr lang="en-US" sz="1543" b="1">
                          <a:solidFill>
                            <a:srgbClr val="F6F6F6"/>
                          </a:solidFill>
                          <a:latin typeface="Canva Sans Bold"/>
                          <a:ea typeface="Canva Sans Bold"/>
                          <a:cs typeface="Canva Sans Bold"/>
                          <a:sym typeface="Canva Sans Bold"/>
                        </a:rPr>
                        <a:t>Aspect</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tc>
                  <a:txBody>
                    <a:bodyPr/>
                    <a:lstStyle/>
                    <a:p>
                      <a:pPr algn="ctr">
                        <a:lnSpc>
                          <a:spcPts val="2156"/>
                        </a:lnSpc>
                        <a:defRPr/>
                      </a:pPr>
                      <a:r>
                        <a:rPr lang="en-US" sz="1540" b="1" dirty="0">
                          <a:solidFill>
                            <a:srgbClr val="F6F6F6"/>
                          </a:solidFill>
                          <a:latin typeface="Canva Sans Bold"/>
                          <a:ea typeface="Canva Sans Bold"/>
                          <a:cs typeface="Canva Sans Bold"/>
                          <a:sym typeface="Canva Sans Bold"/>
                        </a:rPr>
                        <a:t>Existing Work (Limitations)</a:t>
                      </a:r>
                      <a:endParaRPr lang="en-US" sz="1100" dirty="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tc>
                  <a:txBody>
                    <a:bodyPr/>
                    <a:lstStyle/>
                    <a:p>
                      <a:pPr algn="ctr">
                        <a:lnSpc>
                          <a:spcPts val="2156"/>
                        </a:lnSpc>
                        <a:defRPr/>
                      </a:pPr>
                      <a:r>
                        <a:rPr lang="en-US" sz="1540" b="1">
                          <a:solidFill>
                            <a:srgbClr val="F6F6F6"/>
                          </a:solidFill>
                          <a:latin typeface="Canva Sans Bold"/>
                          <a:ea typeface="Canva Sans Bold"/>
                          <a:cs typeface="Canva Sans Bold"/>
                          <a:sym typeface="Canva Sans Bold"/>
                        </a:rPr>
                        <a:t>Proposed Work (Improvements)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extLst>
                  <a:ext uri="{0D108BD9-81ED-4DB2-BD59-A6C34878D82A}">
                    <a16:rowId xmlns:a16="http://schemas.microsoft.com/office/drawing/2014/main" val="10000"/>
                  </a:ext>
                </a:extLst>
              </a:tr>
              <a:tr h="922589">
                <a:tc>
                  <a:txBody>
                    <a:bodyPr/>
                    <a:lstStyle/>
                    <a:p>
                      <a:pPr algn="ctr">
                        <a:lnSpc>
                          <a:spcPts val="2160"/>
                        </a:lnSpc>
                        <a:defRPr/>
                      </a:pPr>
                      <a:r>
                        <a:rPr lang="en-US" sz="1543">
                          <a:solidFill>
                            <a:srgbClr val="000000"/>
                          </a:solidFill>
                          <a:latin typeface="Canva Sans"/>
                          <a:ea typeface="Canva Sans"/>
                          <a:cs typeface="Canva Sans"/>
                          <a:sym typeface="Canva Sans"/>
                        </a:rPr>
                        <a:t>H-1B Data Analysis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Canva Sans"/>
                          <a:ea typeface="Canva Sans"/>
                          <a:cs typeface="Canva Sans"/>
                          <a:sym typeface="Canva Sans"/>
                        </a:rPr>
                        <a:t>Most studies provide static reports with raw H-1B petition data, lacking interactive analysis.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We will use interactive visualizations to explore approval trends, employer participation, and salary distributions.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1"/>
                  </a:ext>
                </a:extLst>
              </a:tr>
              <a:tr h="931460">
                <a:tc>
                  <a:txBody>
                    <a:bodyPr/>
                    <a:lstStyle/>
                    <a:p>
                      <a:pPr algn="ctr">
                        <a:lnSpc>
                          <a:spcPts val="2160"/>
                        </a:lnSpc>
                        <a:defRPr/>
                      </a:pPr>
                      <a:r>
                        <a:rPr lang="en-US" sz="1543">
                          <a:solidFill>
                            <a:srgbClr val="000000"/>
                          </a:solidFill>
                          <a:latin typeface="Canva Sans"/>
                          <a:ea typeface="Canva Sans"/>
                          <a:cs typeface="Canva Sans"/>
                          <a:sym typeface="Canva Sans"/>
                        </a:rPr>
                        <a:t>Visualization Techniques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Simple bar charts or tables in reports, making it hard to analyze trends dynamically.</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Utilize time-series analysis, heatmaps, choropleth maps, and tree maps for deeper insights.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2"/>
                  </a:ext>
                </a:extLst>
              </a:tr>
              <a:tr h="931460">
                <a:tc>
                  <a:txBody>
                    <a:bodyPr/>
                    <a:lstStyle/>
                    <a:p>
                      <a:pPr algn="ctr">
                        <a:lnSpc>
                          <a:spcPts val="2160"/>
                        </a:lnSpc>
                        <a:defRPr/>
                      </a:pPr>
                      <a:r>
                        <a:rPr lang="en-US" sz="1543">
                          <a:solidFill>
                            <a:srgbClr val="000000"/>
                          </a:solidFill>
                          <a:latin typeface="Canva Sans"/>
                          <a:ea typeface="Canva Sans"/>
                          <a:cs typeface="Canva Sans"/>
                          <a:sym typeface="Canva Sans"/>
                        </a:rPr>
                        <a:t>Employer &amp; Industry Insights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Existing studies focus on macro-level trends, missing employer-specific and industry-specific insights.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Identify top H-1B sponsors, industry-wise approval rates, and salary variations across sectors.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3"/>
                  </a:ext>
                </a:extLst>
              </a:tr>
              <a:tr h="922589">
                <a:tc>
                  <a:txBody>
                    <a:bodyPr/>
                    <a:lstStyle/>
                    <a:p>
                      <a:pPr algn="ctr">
                        <a:lnSpc>
                          <a:spcPts val="2160"/>
                        </a:lnSpc>
                        <a:defRPr/>
                      </a:pPr>
                      <a:r>
                        <a:rPr lang="en-US" sz="1543">
                          <a:solidFill>
                            <a:srgbClr val="000000"/>
                          </a:solidFill>
                          <a:latin typeface="Canva Sans"/>
                          <a:ea typeface="Canva Sans"/>
                          <a:cs typeface="Canva Sans"/>
                          <a:sym typeface="Canva Sans"/>
                        </a:rPr>
                        <a:t>Salary &amp; Job Trends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Limited research on how salary influences H-1B approvals.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Analyze salary distributions across industries, compare certified vs. denied applications, and explore wage trends over time.</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4"/>
                  </a:ext>
                </a:extLst>
              </a:tr>
              <a:tr h="931460">
                <a:tc>
                  <a:txBody>
                    <a:bodyPr/>
                    <a:lstStyle/>
                    <a:p>
                      <a:pPr algn="ctr">
                        <a:lnSpc>
                          <a:spcPts val="2160"/>
                        </a:lnSpc>
                        <a:defRPr/>
                      </a:pPr>
                      <a:r>
                        <a:rPr lang="en-US" sz="1543">
                          <a:solidFill>
                            <a:srgbClr val="000000"/>
                          </a:solidFill>
                          <a:latin typeface="Canva Sans"/>
                          <a:ea typeface="Canva Sans"/>
                          <a:cs typeface="Canva Sans"/>
                          <a:sym typeface="Canva Sans"/>
                        </a:rPr>
                        <a:t>Geospatial Analysis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Country-wise H-1B approvals are often presented as static numbers rather than visual maps.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Choropleth &amp; geospatial heatmaps to show which countries and U.S. states contribute most to H-1B applications.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5"/>
                  </a:ext>
                </a:extLst>
              </a:tr>
              <a:tr h="931460">
                <a:tc>
                  <a:txBody>
                    <a:bodyPr/>
                    <a:lstStyle/>
                    <a:p>
                      <a:pPr algn="ctr">
                        <a:lnSpc>
                          <a:spcPts val="2160"/>
                        </a:lnSpc>
                        <a:defRPr/>
                      </a:pPr>
                      <a:r>
                        <a:rPr lang="en-US" sz="1543">
                          <a:solidFill>
                            <a:srgbClr val="000000"/>
                          </a:solidFill>
                          <a:latin typeface="Canva Sans"/>
                          <a:ea typeface="Canva Sans"/>
                          <a:cs typeface="Canva Sans"/>
                          <a:sym typeface="Canva Sans"/>
                        </a:rPr>
                        <a:t>Impact of Policy Changes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Studies highlight policy effects on H-1B approvals, but lack data-driven comparisons.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Compare approval rates before and after major immigration policy shifts to show direct impacts.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6"/>
                  </a:ext>
                </a:extLst>
              </a:tr>
              <a:tr h="931460">
                <a:tc>
                  <a:txBody>
                    <a:bodyPr/>
                    <a:lstStyle/>
                    <a:p>
                      <a:pPr algn="ctr">
                        <a:lnSpc>
                          <a:spcPts val="2160"/>
                        </a:lnSpc>
                        <a:defRPr/>
                      </a:pPr>
                      <a:r>
                        <a:rPr lang="en-US" sz="1543">
                          <a:solidFill>
                            <a:srgbClr val="000000"/>
                          </a:solidFill>
                          <a:latin typeface="Canva Sans"/>
                          <a:ea typeface="Canva Sans"/>
                          <a:cs typeface="Canva Sans"/>
                          <a:sym typeface="Canva Sans"/>
                        </a:rPr>
                        <a:t>Comparative &amp; Predictive Analysis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Existing research tracks historical trends but lacks forecasting.</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Use predictive modeling and machine learning trends to estimate future H-1B visa trends.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7"/>
                  </a:ext>
                </a:extLst>
              </a:tr>
              <a:tr h="931460">
                <a:tc>
                  <a:txBody>
                    <a:bodyPr/>
                    <a:lstStyle/>
                    <a:p>
                      <a:pPr algn="ctr">
                        <a:lnSpc>
                          <a:spcPts val="2160"/>
                        </a:lnSpc>
                        <a:defRPr/>
                      </a:pPr>
                      <a:r>
                        <a:rPr lang="en-US" sz="1543" dirty="0">
                          <a:solidFill>
                            <a:srgbClr val="000000"/>
                          </a:solidFill>
                          <a:latin typeface="Canva Sans"/>
                          <a:ea typeface="Canva Sans"/>
                          <a:cs typeface="Canva Sans"/>
                          <a:sym typeface="Canva Sans"/>
                        </a:rPr>
                        <a:t>Accessibility &amp; User Interaction</a:t>
                      </a:r>
                      <a:endParaRPr lang="en-US" sz="1100" dirty="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56"/>
                        </a:lnSpc>
                        <a:defRPr/>
                      </a:pPr>
                      <a:r>
                        <a:rPr lang="en-US" sz="1540">
                          <a:solidFill>
                            <a:srgbClr val="000000"/>
                          </a:solidFill>
                          <a:latin typeface="Arimo"/>
                          <a:ea typeface="Arimo"/>
                          <a:cs typeface="Arimo"/>
                          <a:sym typeface="Arimo"/>
                        </a:rPr>
                        <a:t>Research papers and reports are not interactive, making it difficult for users to explore data.</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160"/>
                        </a:lnSpc>
                        <a:defRPr/>
                      </a:pPr>
                      <a:r>
                        <a:rPr lang="en-US" sz="1543">
                          <a:solidFill>
                            <a:srgbClr val="000000"/>
                          </a:solidFill>
                          <a:latin typeface="Canva Sans"/>
                          <a:ea typeface="Canva Sans"/>
                          <a:cs typeface="Canva Sans"/>
                          <a:sym typeface="Canva Sans"/>
                        </a:rPr>
                        <a:t>Implement dashboard-style interactive visualizations that allow filtering by employer, salary, country, and year.</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8"/>
                  </a:ext>
                </a:extLst>
              </a:tr>
              <a:tr h="923032">
                <a:tc>
                  <a:txBody>
                    <a:bodyPr/>
                    <a:lstStyle/>
                    <a:p>
                      <a:pPr algn="ctr">
                        <a:lnSpc>
                          <a:spcPts val="2160"/>
                        </a:lnSpc>
                        <a:defRPr/>
                      </a:pP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ctr">
                        <a:lnSpc>
                          <a:spcPts val="2156"/>
                        </a:lnSpc>
                        <a:defRPr/>
                      </a:pP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ctr">
                        <a:lnSpc>
                          <a:spcPts val="2160"/>
                        </a:lnSpc>
                        <a:defRPr/>
                      </a:pPr>
                      <a:endParaRPr lang="en-US" sz="1100" dirty="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 name="TextBox 10"/>
          <p:cNvSpPr txBox="1"/>
          <p:nvPr/>
        </p:nvSpPr>
        <p:spPr>
          <a:xfrm>
            <a:off x="1028700" y="-38100"/>
            <a:ext cx="3516604" cy="39624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Canva Sans Bold"/>
                <a:ea typeface="Canva Sans Bold"/>
                <a:cs typeface="Canva Sans Bold"/>
                <a:sym typeface="Canva Sans Bold"/>
              </a:rPr>
              <a:t>Literature Survey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216123"/>
            <a:ext cx="331657" cy="838387"/>
            <a:chOff x="0" y="0"/>
            <a:chExt cx="87350" cy="220810"/>
          </a:xfrm>
        </p:grpSpPr>
        <p:sp>
          <p:nvSpPr>
            <p:cNvPr id="3" name="Freeform 3"/>
            <p:cNvSpPr/>
            <p:nvPr/>
          </p:nvSpPr>
          <p:spPr>
            <a:xfrm>
              <a:off x="0" y="0"/>
              <a:ext cx="87350" cy="220810"/>
            </a:xfrm>
            <a:custGeom>
              <a:avLst/>
              <a:gdLst/>
              <a:ahLst/>
              <a:cxnLst/>
              <a:rect l="l" t="t" r="r" b="b"/>
              <a:pathLst>
                <a:path w="87350" h="220810">
                  <a:moveTo>
                    <a:pt x="0" y="0"/>
                  </a:moveTo>
                  <a:lnTo>
                    <a:pt x="87350" y="0"/>
                  </a:lnTo>
                  <a:lnTo>
                    <a:pt x="87350" y="220810"/>
                  </a:lnTo>
                  <a:lnTo>
                    <a:pt x="0" y="220810"/>
                  </a:lnTo>
                  <a:close/>
                </a:path>
              </a:pathLst>
            </a:custGeom>
            <a:solidFill>
              <a:srgbClr val="990201"/>
            </a:solidFill>
          </p:spPr>
          <p:txBody>
            <a:bodyPr/>
            <a:lstStyle/>
            <a:p>
              <a:endParaRPr lang="en-US"/>
            </a:p>
          </p:txBody>
        </p:sp>
        <p:sp>
          <p:nvSpPr>
            <p:cNvPr id="4" name="TextBox 4"/>
            <p:cNvSpPr txBox="1"/>
            <p:nvPr/>
          </p:nvSpPr>
          <p:spPr>
            <a:xfrm>
              <a:off x="0" y="-38100"/>
              <a:ext cx="87350" cy="258910"/>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2173292" y="317317"/>
            <a:ext cx="15500830" cy="2208942"/>
          </a:xfrm>
          <a:prstGeom prst="rect">
            <a:avLst/>
          </a:prstGeom>
        </p:spPr>
        <p:txBody>
          <a:bodyPr lIns="0" tIns="0" rIns="0" bIns="0" rtlCol="0" anchor="t">
            <a:spAutoFit/>
          </a:bodyPr>
          <a:lstStyle/>
          <a:p>
            <a:pPr algn="just">
              <a:lnSpc>
                <a:spcPts val="4073"/>
              </a:lnSpc>
            </a:pPr>
            <a:r>
              <a:rPr lang="en-US" sz="2909" b="1">
                <a:solidFill>
                  <a:srgbClr val="000000"/>
                </a:solidFill>
                <a:latin typeface="Canva Sans Bold"/>
                <a:ea typeface="Canva Sans Bold"/>
                <a:cs typeface="Canva Sans Bold"/>
                <a:sym typeface="Canva Sans Bold"/>
              </a:rPr>
              <a:t>Proposed Work</a:t>
            </a:r>
          </a:p>
          <a:p>
            <a:pPr algn="just">
              <a:lnSpc>
                <a:spcPts val="3653"/>
              </a:lnSpc>
            </a:pPr>
            <a:endParaRPr lang="en-US" sz="2909" b="1">
              <a:solidFill>
                <a:srgbClr val="000000"/>
              </a:solidFill>
              <a:latin typeface="Canva Sans Bold"/>
              <a:ea typeface="Canva Sans Bold"/>
              <a:cs typeface="Canva Sans Bold"/>
              <a:sym typeface="Canva Sans Bold"/>
            </a:endParaRPr>
          </a:p>
          <a:p>
            <a:pPr algn="just">
              <a:lnSpc>
                <a:spcPts val="3370"/>
              </a:lnSpc>
              <a:spcBef>
                <a:spcPct val="0"/>
              </a:spcBef>
            </a:pPr>
            <a:r>
              <a:rPr lang="en-US" sz="2407">
                <a:solidFill>
                  <a:srgbClr val="000000"/>
                </a:solidFill>
                <a:latin typeface="Canva Sans"/>
                <a:ea typeface="Canva Sans"/>
                <a:cs typeface="Canva Sans"/>
                <a:sym typeface="Canva Sans"/>
              </a:rPr>
              <a:t>Our project aims to provide data-driven insights into U.S. immigration and H-1B visa trends through interactive and comparative visualizations. We will analyze H-1B employer patterns, wage distributions, and immigration trends over time to understand the program’s impact on the workforce.</a:t>
            </a: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2173292" y="3016541"/>
            <a:ext cx="10906042" cy="5844540"/>
          </a:xfrm>
          <a:prstGeom prst="rect">
            <a:avLst/>
          </a:prstGeom>
        </p:spPr>
        <p:txBody>
          <a:bodyPr lIns="0" tIns="0" rIns="0" bIns="0" rtlCol="0" anchor="t">
            <a:spAutoFit/>
          </a:bodyPr>
          <a:lstStyle/>
          <a:p>
            <a:pPr algn="l">
              <a:lnSpc>
                <a:spcPts val="3359"/>
              </a:lnSpc>
            </a:pPr>
            <a:r>
              <a:rPr lang="en-US" sz="2399" b="1">
                <a:solidFill>
                  <a:srgbClr val="000000"/>
                </a:solidFill>
                <a:latin typeface="Canva Sans Bold"/>
                <a:ea typeface="Canva Sans Bold"/>
                <a:cs typeface="Canva Sans Bold"/>
                <a:sym typeface="Canva Sans Bold"/>
              </a:rPr>
              <a:t>Key Objectives</a:t>
            </a:r>
          </a:p>
          <a:p>
            <a:pPr algn="l">
              <a:lnSpc>
                <a:spcPts val="3359"/>
              </a:lnSpc>
            </a:pPr>
            <a:r>
              <a:rPr lang="en-US" sz="2399">
                <a:solidFill>
                  <a:srgbClr val="000000"/>
                </a:solidFill>
                <a:latin typeface="Canva Sans"/>
                <a:ea typeface="Canva Sans"/>
                <a:cs typeface="Canva Sans"/>
                <a:sym typeface="Canva Sans"/>
              </a:rPr>
              <a:t>✅ Analyze H-1B Visa Trends Over Time</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Track H-1B application &amp; approval rates from past years.</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Identify policy-driven fluctuations in visa approvals.</a:t>
            </a:r>
          </a:p>
          <a:p>
            <a:pPr algn="l">
              <a:lnSpc>
                <a:spcPts val="3359"/>
              </a:lnSpc>
            </a:pPr>
            <a:r>
              <a:rPr lang="en-US" sz="2399">
                <a:solidFill>
                  <a:srgbClr val="000000"/>
                </a:solidFill>
                <a:latin typeface="Canva Sans"/>
                <a:ea typeface="Canva Sans"/>
                <a:cs typeface="Canva Sans"/>
                <a:sym typeface="Canva Sans"/>
              </a:rPr>
              <a:t>✅ Employer &amp; Industry-Specific Analysis</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Identify top H-1B sponsoring companies and industries.</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Compare approval vs. denial rates across industries.</a:t>
            </a:r>
          </a:p>
          <a:p>
            <a:pPr algn="l">
              <a:lnSpc>
                <a:spcPts val="3359"/>
              </a:lnSpc>
              <a:spcBef>
                <a:spcPct val="0"/>
              </a:spcBef>
            </a:pPr>
            <a:r>
              <a:rPr lang="en-US" sz="2399">
                <a:solidFill>
                  <a:srgbClr val="000000"/>
                </a:solidFill>
                <a:latin typeface="Canva Sans"/>
                <a:ea typeface="Canva Sans"/>
                <a:cs typeface="Canva Sans"/>
                <a:sym typeface="Canva Sans"/>
              </a:rPr>
              <a:t>✅ Salary &amp; Job Market Insights</a:t>
            </a:r>
          </a:p>
          <a:p>
            <a:pPr marL="518158" lvl="1" indent="-259079" algn="l">
              <a:lnSpc>
                <a:spcPts val="3359"/>
              </a:lnSpc>
              <a:spcBef>
                <a:spcPct val="0"/>
              </a:spcBef>
              <a:buFont typeface="Arial"/>
              <a:buChar char="•"/>
            </a:pPr>
            <a:r>
              <a:rPr lang="en-US" sz="2399">
                <a:solidFill>
                  <a:srgbClr val="000000"/>
                </a:solidFill>
                <a:latin typeface="Canva Sans"/>
                <a:ea typeface="Canva Sans"/>
                <a:cs typeface="Canva Sans"/>
                <a:sym typeface="Canva Sans"/>
              </a:rPr>
              <a:t>Analyze salary distributions across job roles &amp; industries.</a:t>
            </a:r>
          </a:p>
          <a:p>
            <a:pPr marL="518158" lvl="1" indent="-259079" algn="l">
              <a:lnSpc>
                <a:spcPts val="3359"/>
              </a:lnSpc>
              <a:spcBef>
                <a:spcPct val="0"/>
              </a:spcBef>
              <a:buFont typeface="Arial"/>
              <a:buChar char="•"/>
            </a:pPr>
            <a:r>
              <a:rPr lang="en-US" sz="2399">
                <a:solidFill>
                  <a:srgbClr val="000000"/>
                </a:solidFill>
                <a:latin typeface="Canva Sans"/>
                <a:ea typeface="Canva Sans"/>
                <a:cs typeface="Canva Sans"/>
                <a:sym typeface="Canva Sans"/>
              </a:rPr>
              <a:t>Compare wage trends for certified vs. denied applications.</a:t>
            </a:r>
          </a:p>
          <a:p>
            <a:pPr algn="l">
              <a:lnSpc>
                <a:spcPts val="3359"/>
              </a:lnSpc>
              <a:spcBef>
                <a:spcPct val="0"/>
              </a:spcBef>
            </a:pPr>
            <a:r>
              <a:rPr lang="en-US" sz="2399">
                <a:solidFill>
                  <a:srgbClr val="000000"/>
                </a:solidFill>
                <a:latin typeface="Canva Sans"/>
                <a:ea typeface="Canva Sans"/>
                <a:cs typeface="Canva Sans"/>
                <a:sym typeface="Canva Sans"/>
              </a:rPr>
              <a:t>✅ Country-Wise Immigration Patterns</a:t>
            </a:r>
          </a:p>
          <a:p>
            <a:pPr marL="518158" lvl="1" indent="-259079" algn="l">
              <a:lnSpc>
                <a:spcPts val="3359"/>
              </a:lnSpc>
              <a:spcBef>
                <a:spcPct val="0"/>
              </a:spcBef>
              <a:buFont typeface="Arial"/>
              <a:buChar char="•"/>
            </a:pPr>
            <a:r>
              <a:rPr lang="en-US" sz="2399">
                <a:solidFill>
                  <a:srgbClr val="000000"/>
                </a:solidFill>
                <a:latin typeface="Canva Sans"/>
                <a:ea typeface="Canva Sans"/>
                <a:cs typeface="Canva Sans"/>
                <a:sym typeface="Canva Sans"/>
              </a:rPr>
              <a:t>Identify top source countries for H-1B approvals.</a:t>
            </a:r>
          </a:p>
          <a:p>
            <a:pPr marL="518158" lvl="1" indent="-259079" algn="l">
              <a:lnSpc>
                <a:spcPts val="3359"/>
              </a:lnSpc>
              <a:spcBef>
                <a:spcPct val="0"/>
              </a:spcBef>
              <a:buFont typeface="Arial"/>
              <a:buChar char="•"/>
            </a:pPr>
            <a:r>
              <a:rPr lang="en-US" sz="2399">
                <a:solidFill>
                  <a:srgbClr val="000000"/>
                </a:solidFill>
                <a:latin typeface="Canva Sans"/>
                <a:ea typeface="Canva Sans"/>
                <a:cs typeface="Canva Sans"/>
                <a:sym typeface="Canva Sans"/>
              </a:rPr>
              <a:t>Compare immigration trends with employment-based approvals.</a:t>
            </a:r>
          </a:p>
          <a:p>
            <a:pPr algn="l">
              <a:lnSpc>
                <a:spcPts val="3359"/>
              </a:lnSpc>
              <a:spcBef>
                <a:spcPct val="0"/>
              </a:spcBef>
            </a:pPr>
            <a:endParaRPr lang="en-US" sz="2399">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78698"/>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652166" y="-643796"/>
            <a:ext cx="15607134" cy="2308225"/>
          </a:xfrm>
          <a:prstGeom prst="rect">
            <a:avLst/>
          </a:prstGeom>
        </p:spPr>
        <p:txBody>
          <a:bodyPr lIns="0" tIns="0" rIns="0" bIns="0" rtlCol="0" anchor="t">
            <a:spAutoFit/>
          </a:bodyPr>
          <a:lstStyle/>
          <a:p>
            <a:pPr algn="just">
              <a:lnSpc>
                <a:spcPts val="6160"/>
              </a:lnSpc>
              <a:spcBef>
                <a:spcPct val="0"/>
              </a:spcBef>
            </a:pPr>
            <a:endParaRPr/>
          </a:p>
          <a:p>
            <a:pPr algn="just">
              <a:lnSpc>
                <a:spcPts val="6160"/>
              </a:lnSpc>
              <a:spcBef>
                <a:spcPct val="0"/>
              </a:spcBef>
            </a:pPr>
            <a:r>
              <a:rPr lang="en-US" sz="4400" b="1">
                <a:solidFill>
                  <a:srgbClr val="000000"/>
                </a:solidFill>
                <a:latin typeface="Canva Sans Bold"/>
                <a:ea typeface="Canva Sans Bold"/>
                <a:cs typeface="Canva Sans Bold"/>
                <a:sym typeface="Canva Sans Bold"/>
              </a:rPr>
              <a:t>Datasets</a:t>
            </a:r>
          </a:p>
          <a:p>
            <a:pPr algn="just">
              <a:lnSpc>
                <a:spcPts val="2940"/>
              </a:lnSpc>
              <a:spcBef>
                <a:spcPct val="0"/>
              </a:spcBef>
            </a:pPr>
            <a:endParaRPr lang="en-US" sz="4400" b="1">
              <a:solidFill>
                <a:srgbClr val="000000"/>
              </a:solidFill>
              <a:latin typeface="Canva Sans Bold"/>
              <a:ea typeface="Canva Sans Bold"/>
              <a:cs typeface="Canva Sans Bold"/>
              <a:sym typeface="Canva Sans Bold"/>
            </a:endParaRPr>
          </a:p>
          <a:p>
            <a:pPr algn="just">
              <a:lnSpc>
                <a:spcPts val="2940"/>
              </a:lnSpc>
              <a:spcBef>
                <a:spcPct val="0"/>
              </a:spcBef>
            </a:pPr>
            <a:endParaRPr lang="en-US" sz="4400" b="1">
              <a:solidFill>
                <a:srgbClr val="000000"/>
              </a:solidFill>
              <a:latin typeface="Canva Sans Bold"/>
              <a:ea typeface="Canva Sans Bold"/>
              <a:cs typeface="Canva Sans Bold"/>
              <a:sym typeface="Canva Sans Bold"/>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graphicFrame>
        <p:nvGraphicFramePr>
          <p:cNvPr id="10" name="Table 10"/>
          <p:cNvGraphicFramePr>
            <a:graphicFrameLocks noGrp="1"/>
          </p:cNvGraphicFramePr>
          <p:nvPr/>
        </p:nvGraphicFramePr>
        <p:xfrm>
          <a:off x="1782382" y="1424274"/>
          <a:ext cx="16153136" cy="6353174"/>
        </p:xfrm>
        <a:graphic>
          <a:graphicData uri="http://schemas.openxmlformats.org/drawingml/2006/table">
            <a:tbl>
              <a:tblPr/>
              <a:tblGrid>
                <a:gridCol w="3396536">
                  <a:extLst>
                    <a:ext uri="{9D8B030D-6E8A-4147-A177-3AD203B41FA5}">
                      <a16:colId xmlns:a16="http://schemas.microsoft.com/office/drawing/2014/main" val="20000"/>
                    </a:ext>
                  </a:extLst>
                </a:gridCol>
                <a:gridCol w="5933066">
                  <a:extLst>
                    <a:ext uri="{9D8B030D-6E8A-4147-A177-3AD203B41FA5}">
                      <a16:colId xmlns:a16="http://schemas.microsoft.com/office/drawing/2014/main" val="20001"/>
                    </a:ext>
                  </a:extLst>
                </a:gridCol>
                <a:gridCol w="6823534">
                  <a:extLst>
                    <a:ext uri="{9D8B030D-6E8A-4147-A177-3AD203B41FA5}">
                      <a16:colId xmlns:a16="http://schemas.microsoft.com/office/drawing/2014/main" val="20002"/>
                    </a:ext>
                  </a:extLst>
                </a:gridCol>
              </a:tblGrid>
              <a:tr h="1561942">
                <a:tc>
                  <a:txBody>
                    <a:bodyPr/>
                    <a:lstStyle/>
                    <a:p>
                      <a:pPr algn="ctr">
                        <a:lnSpc>
                          <a:spcPts val="4255"/>
                        </a:lnSpc>
                        <a:defRPr/>
                      </a:pPr>
                      <a:r>
                        <a:rPr lang="en-US" sz="3039" b="1">
                          <a:solidFill>
                            <a:srgbClr val="F6F6F6"/>
                          </a:solidFill>
                          <a:latin typeface="Canva Sans Bold"/>
                          <a:ea typeface="Canva Sans Bold"/>
                          <a:cs typeface="Canva Sans Bold"/>
                          <a:sym typeface="Canva Sans Bold"/>
                        </a:rPr>
                        <a:t>Datasets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tc>
                  <a:txBody>
                    <a:bodyPr/>
                    <a:lstStyle/>
                    <a:p>
                      <a:pPr algn="ctr">
                        <a:lnSpc>
                          <a:spcPts val="4260"/>
                        </a:lnSpc>
                        <a:defRPr/>
                      </a:pPr>
                      <a:r>
                        <a:rPr lang="en-US" sz="3043" b="1">
                          <a:solidFill>
                            <a:srgbClr val="F6F6F6"/>
                          </a:solidFill>
                          <a:latin typeface="Canva Sans Bold"/>
                          <a:ea typeface="Canva Sans Bold"/>
                          <a:cs typeface="Canva Sans Bold"/>
                          <a:sym typeface="Canva Sans Bold"/>
                        </a:rPr>
                        <a:t>Source</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tc>
                  <a:txBody>
                    <a:bodyPr/>
                    <a:lstStyle/>
                    <a:p>
                      <a:pPr algn="ctr">
                        <a:lnSpc>
                          <a:spcPts val="4260"/>
                        </a:lnSpc>
                        <a:defRPr/>
                      </a:pPr>
                      <a:r>
                        <a:rPr lang="en-US" sz="3043" b="1">
                          <a:solidFill>
                            <a:srgbClr val="F6F6F6"/>
                          </a:solidFill>
                          <a:latin typeface="Canva Sans Bold"/>
                          <a:ea typeface="Canva Sans Bold"/>
                          <a:cs typeface="Canva Sans Bold"/>
                          <a:sym typeface="Canva Sans Bold"/>
                        </a:rPr>
                        <a:t>Details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solidFill>
                      <a:srgbClr val="990201"/>
                    </a:solidFill>
                  </a:tcPr>
                </a:tc>
                <a:extLst>
                  <a:ext uri="{0D108BD9-81ED-4DB2-BD59-A6C34878D82A}">
                    <a16:rowId xmlns:a16="http://schemas.microsoft.com/office/drawing/2014/main" val="10000"/>
                  </a:ext>
                </a:extLst>
              </a:tr>
              <a:tr h="1197808">
                <a:tc>
                  <a:txBody>
                    <a:bodyPr/>
                    <a:lstStyle/>
                    <a:p>
                      <a:pPr algn="ctr">
                        <a:lnSpc>
                          <a:spcPts val="2860"/>
                        </a:lnSpc>
                        <a:defRPr/>
                      </a:pPr>
                      <a:r>
                        <a:rPr lang="en-US" sz="2043">
                          <a:solidFill>
                            <a:srgbClr val="000000"/>
                          </a:solidFill>
                          <a:latin typeface="Canva Sans"/>
                          <a:ea typeface="Canva Sans"/>
                          <a:cs typeface="Canva Sans"/>
                          <a:sym typeface="Canva Sans"/>
                        </a:rPr>
                        <a:t>USCIS H-1B Employer Data Hub</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580"/>
                        </a:lnSpc>
                        <a:defRPr/>
                      </a:pPr>
                      <a:r>
                        <a:rPr lang="en-US" sz="1843" u="sng">
                          <a:solidFill>
                            <a:srgbClr val="000000"/>
                          </a:solidFill>
                          <a:latin typeface="Canva Sans"/>
                          <a:ea typeface="Canva Sans"/>
                          <a:cs typeface="Canva Sans"/>
                          <a:sym typeface="Canva Sans"/>
                          <a:hlinkClick r:id="rId3" tooltip="https://www.uscis.gov/tools/reports-and-studies/h-1b-employer-data-hub"/>
                        </a:rPr>
                        <a:t>https://www.uscis.gov/tools/reports-and-studies/h-1b-employer-data-hub</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860"/>
                        </a:lnSpc>
                        <a:defRPr/>
                      </a:pPr>
                      <a:r>
                        <a:rPr lang="en-US" sz="2043">
                          <a:solidFill>
                            <a:srgbClr val="000000"/>
                          </a:solidFill>
                          <a:latin typeface="Canva Sans"/>
                          <a:ea typeface="Canva Sans"/>
                          <a:cs typeface="Canva Sans"/>
                          <a:sym typeface="Canva Sans"/>
                        </a:rPr>
                        <a:t>Employer-based H-1B petition approvals and denials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1"/>
                  </a:ext>
                </a:extLst>
              </a:tr>
              <a:tr h="1197808">
                <a:tc>
                  <a:txBody>
                    <a:bodyPr/>
                    <a:lstStyle/>
                    <a:p>
                      <a:pPr algn="ctr">
                        <a:lnSpc>
                          <a:spcPts val="2860"/>
                        </a:lnSpc>
                        <a:defRPr/>
                      </a:pPr>
                      <a:r>
                        <a:rPr lang="en-US" sz="2043">
                          <a:solidFill>
                            <a:srgbClr val="000000"/>
                          </a:solidFill>
                          <a:latin typeface="Canva Sans"/>
                          <a:ea typeface="Canva Sans"/>
                          <a:cs typeface="Canva Sans"/>
                          <a:sym typeface="Canva Sans"/>
                        </a:rPr>
                        <a:t>H-1B LCA Disclosure Data (2020-2024)</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519"/>
                        </a:lnSpc>
                        <a:defRPr/>
                      </a:pPr>
                      <a:r>
                        <a:rPr lang="en-US" sz="1799" u="sng">
                          <a:solidFill>
                            <a:srgbClr val="000000"/>
                          </a:solidFill>
                          <a:latin typeface="Arimo"/>
                          <a:ea typeface="Arimo"/>
                          <a:cs typeface="Arimo"/>
                          <a:sym typeface="Arimo"/>
                          <a:hlinkClick r:id="rId4" tooltip="https://www.kaggle.com/datasets/zongaobian/h1b-lca-disclosure-data-2020-2024"/>
                        </a:rPr>
                        <a:t>https://www.kaggle.com/datasets/zongaobian/h1b-lca-disclosure-data-2020-2024</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860"/>
                        </a:lnSpc>
                        <a:defRPr/>
                      </a:pPr>
                      <a:r>
                        <a:rPr lang="en-US" sz="2043">
                          <a:solidFill>
                            <a:srgbClr val="000000"/>
                          </a:solidFill>
                          <a:latin typeface="Canva Sans"/>
                          <a:ea typeface="Canva Sans"/>
                          <a:cs typeface="Canva Sans"/>
                          <a:sym typeface="Canva Sans"/>
                        </a:rPr>
                        <a:t>H-1B job applications and salaries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2"/>
                  </a:ext>
                </a:extLst>
              </a:tr>
              <a:tr h="1197808">
                <a:tc>
                  <a:txBody>
                    <a:bodyPr/>
                    <a:lstStyle/>
                    <a:p>
                      <a:pPr algn="ctr">
                        <a:lnSpc>
                          <a:spcPts val="2860"/>
                        </a:lnSpc>
                        <a:defRPr/>
                      </a:pPr>
                      <a:r>
                        <a:rPr lang="en-US" sz="2043">
                          <a:solidFill>
                            <a:srgbClr val="000000"/>
                          </a:solidFill>
                          <a:latin typeface="Canva Sans"/>
                          <a:ea typeface="Canva Sans"/>
                          <a:cs typeface="Canva Sans"/>
                          <a:sym typeface="Canva Sans"/>
                        </a:rPr>
                        <a:t>U.S. Immigration Trends Dataset</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519"/>
                        </a:lnSpc>
                        <a:defRPr/>
                      </a:pPr>
                      <a:r>
                        <a:rPr lang="en-US" sz="1799" u="sng">
                          <a:solidFill>
                            <a:srgbClr val="000000"/>
                          </a:solidFill>
                          <a:latin typeface="Arimo"/>
                          <a:ea typeface="Arimo"/>
                          <a:cs typeface="Arimo"/>
                          <a:sym typeface="Arimo"/>
                          <a:hlinkClick r:id="rId5" tooltip="https://dr.lib.iastate.edu/server/api/core/bitstreams/f6654827-cf87-44e6-8553-bce39fe404d7/content"/>
                        </a:rPr>
                        <a:t>https://dr.lib.iastate.edu/server/api/core/bitstreams/f6654827-cf87-44e6-8553-bce39fe404d7/content</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Arimo"/>
                          <a:ea typeface="Arimo"/>
                          <a:cs typeface="Arimo"/>
                          <a:sym typeface="Arimo"/>
                        </a:rPr>
                        <a:t>Overall U.S. immigration trends (employment-based &amp; family-based visas)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3"/>
                  </a:ext>
                </a:extLst>
              </a:tr>
              <a:tr h="1197808">
                <a:tc>
                  <a:txBody>
                    <a:bodyPr/>
                    <a:lstStyle/>
                    <a:p>
                      <a:pPr algn="ctr">
                        <a:lnSpc>
                          <a:spcPts val="2860"/>
                        </a:lnSpc>
                        <a:defRPr/>
                      </a:pPr>
                      <a:r>
                        <a:rPr lang="en-US" sz="2043">
                          <a:solidFill>
                            <a:srgbClr val="000000"/>
                          </a:solidFill>
                          <a:latin typeface="Canva Sans"/>
                          <a:ea typeface="Canva Sans"/>
                          <a:cs typeface="Canva Sans"/>
                          <a:sym typeface="Canva Sans"/>
                        </a:rPr>
                        <a:t>H-1B Demographic Breakdown Data</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519"/>
                        </a:lnSpc>
                        <a:defRPr/>
                      </a:pPr>
                      <a:r>
                        <a:rPr lang="en-US" sz="1799" u="sng">
                          <a:solidFill>
                            <a:srgbClr val="000000"/>
                          </a:solidFill>
                          <a:latin typeface="Arimo"/>
                          <a:ea typeface="Arimo"/>
                          <a:cs typeface="Arimo"/>
                          <a:sym typeface="Arimo"/>
                          <a:hlinkClick r:id="rId6" tooltip="https://www.uscis.gov/tools/reports-and-studies"/>
                        </a:rPr>
                        <a:t>https://www.uscis.gov/tools/reports-and-studies</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Demographics of H-1B applicants by country and gender</a:t>
                      </a:r>
                      <a:endParaRPr lang="en-US" sz="1100"/>
                    </a:p>
                  </a:txBody>
                  <a:tcPr marL="190500" marR="190500" marT="190500" marB="190500" anchor="ctr">
                    <a:lnL w="38100" cap="flat" cmpd="sng" algn="ctr">
                      <a:solidFill>
                        <a:srgbClr val="990201"/>
                      </a:solidFill>
                      <a:prstDash val="solid"/>
                      <a:round/>
                      <a:headEnd type="none" w="med" len="med"/>
                      <a:tailEnd type="none" w="med" len="med"/>
                    </a:lnL>
                    <a:lnR w="38100" cap="flat" cmpd="sng" algn="ctr">
                      <a:solidFill>
                        <a:srgbClr val="990201"/>
                      </a:solidFill>
                      <a:prstDash val="solid"/>
                      <a:round/>
                      <a:headEnd type="none" w="med" len="med"/>
                      <a:tailEnd type="none" w="med" len="med"/>
                    </a:lnR>
                    <a:lnT w="38100" cap="flat" cmpd="sng" algn="ctr">
                      <a:solidFill>
                        <a:srgbClr val="990201"/>
                      </a:solidFill>
                      <a:prstDash val="solid"/>
                      <a:round/>
                      <a:headEnd type="none" w="med" len="med"/>
                      <a:tailEnd type="none" w="med" len="med"/>
                    </a:lnT>
                    <a:lnB w="38100" cap="flat" cmpd="sng" algn="ctr">
                      <a:solidFill>
                        <a:srgbClr val="99020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553699"/>
            <a:ext cx="331657" cy="950002"/>
            <a:chOff x="0" y="0"/>
            <a:chExt cx="87350" cy="250206"/>
          </a:xfrm>
        </p:grpSpPr>
        <p:sp>
          <p:nvSpPr>
            <p:cNvPr id="3" name="Freeform 3"/>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4" name="TextBox 4"/>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2098623" y="-85725"/>
            <a:ext cx="15160677" cy="7508875"/>
          </a:xfrm>
          <a:prstGeom prst="rect">
            <a:avLst/>
          </a:prstGeom>
        </p:spPr>
        <p:txBody>
          <a:bodyPr lIns="0" tIns="0" rIns="0" bIns="0" rtlCol="0" anchor="t">
            <a:spAutoFit/>
          </a:bodyPr>
          <a:lstStyle/>
          <a:p>
            <a:pPr algn="just">
              <a:lnSpc>
                <a:spcPts val="6160"/>
              </a:lnSpc>
              <a:spcBef>
                <a:spcPct val="0"/>
              </a:spcBef>
            </a:pPr>
            <a:endParaRPr/>
          </a:p>
          <a:p>
            <a:pPr algn="just">
              <a:lnSpc>
                <a:spcPts val="6160"/>
              </a:lnSpc>
              <a:spcBef>
                <a:spcPct val="0"/>
              </a:spcBef>
            </a:pPr>
            <a:r>
              <a:rPr lang="en-US" sz="4400" b="1">
                <a:solidFill>
                  <a:srgbClr val="000000"/>
                </a:solidFill>
                <a:latin typeface="Canva Sans Bold"/>
                <a:ea typeface="Canva Sans Bold"/>
                <a:cs typeface="Canva Sans Bold"/>
                <a:sym typeface="Canva Sans Bold"/>
              </a:rPr>
              <a:t>Datasets</a:t>
            </a:r>
          </a:p>
          <a:p>
            <a:pPr algn="just">
              <a:lnSpc>
                <a:spcPts val="2940"/>
              </a:lnSpc>
              <a:spcBef>
                <a:spcPct val="0"/>
              </a:spcBef>
            </a:pPr>
            <a:endParaRPr lang="en-US" sz="4400" b="1">
              <a:solidFill>
                <a:srgbClr val="000000"/>
              </a:solidFill>
              <a:latin typeface="Canva Sans Bold"/>
              <a:ea typeface="Canva Sans Bold"/>
              <a:cs typeface="Canva Sans Bold"/>
              <a:sym typeface="Canva Sans Bold"/>
            </a:endParaRPr>
          </a:p>
          <a:p>
            <a:pPr algn="just">
              <a:lnSpc>
                <a:spcPts val="2940"/>
              </a:lnSpc>
              <a:spcBef>
                <a:spcPct val="0"/>
              </a:spcBef>
            </a:pPr>
            <a:r>
              <a:rPr lang="en-US" sz="2100">
                <a:solidFill>
                  <a:srgbClr val="000000"/>
                </a:solidFill>
                <a:latin typeface="Canva Sans"/>
                <a:ea typeface="Canva Sans"/>
                <a:cs typeface="Canva Sans"/>
                <a:sym typeface="Canva Sans"/>
              </a:rPr>
              <a:t>We are using the H1B LCA Disclosure dataset spanning 2020 to 2024, which contains 96 columns of data. This rich tabular dataset includes key fields such as:</a:t>
            </a:r>
          </a:p>
          <a:p>
            <a:pPr algn="just">
              <a:lnSpc>
                <a:spcPts val="2940"/>
              </a:lnSpc>
              <a:spcBef>
                <a:spcPct val="0"/>
              </a:spcBef>
            </a:pPr>
            <a:endParaRPr lang="en-US" sz="2100">
              <a:solidFill>
                <a:srgbClr val="000000"/>
              </a:solidFill>
              <a:latin typeface="Canva Sans"/>
              <a:ea typeface="Canva Sans"/>
              <a:cs typeface="Canva Sans"/>
              <a:sym typeface="Canva Sans"/>
            </a:endParaRP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WAGE_RATE_OF_PAY and WAGE_UNIT_OF_PAY (numerical values indicating the offered wage),</a:t>
            </a: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PREVAILING_WAGE and PW_UNIT_OF_PAY (numerical values representing the standard wage),</a:t>
            </a: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JOB_TITLE, SOC_CODE, and SOC_TITLE (categorical fields for job categorization),</a:t>
            </a: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WORKSITE_STATE and WORKSITE_CITY (geographic information),</a:t>
            </a: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H1B_DEPENDENT and WILLFUL_VIOLATOR flags (binary/categorical indicators),</a:t>
            </a:r>
          </a:p>
          <a:p>
            <a:pPr marL="453390" lvl="1" indent="-226695" algn="just">
              <a:lnSpc>
                <a:spcPts val="2940"/>
              </a:lnSpc>
              <a:buFont typeface="Arial"/>
              <a:buChar char="•"/>
            </a:pPr>
            <a:r>
              <a:rPr lang="en-US" sz="2100">
                <a:solidFill>
                  <a:srgbClr val="000000"/>
                </a:solidFill>
                <a:latin typeface="Canva Sans"/>
                <a:ea typeface="Canva Sans"/>
                <a:cs typeface="Canva Sans"/>
                <a:sym typeface="Canva Sans"/>
              </a:rPr>
              <a:t>AGENT_ATTORNEY_NAME and LAWFIRM_NAME (text fields identifying legal representation). The dataset’s diverse range of data types (numeric, categorical, and date fields) provides a comprehensive basis for our analysis.</a:t>
            </a:r>
          </a:p>
          <a:p>
            <a:pPr algn="just">
              <a:lnSpc>
                <a:spcPts val="2940"/>
              </a:lnSpc>
            </a:pPr>
            <a:endParaRPr lang="en-US" sz="2100">
              <a:solidFill>
                <a:srgbClr val="000000"/>
              </a:solidFill>
              <a:latin typeface="Canva Sans"/>
              <a:ea typeface="Canva Sans"/>
              <a:cs typeface="Canva Sans"/>
              <a:sym typeface="Canva Sans"/>
            </a:endParaRPr>
          </a:p>
          <a:p>
            <a:pPr algn="just">
              <a:lnSpc>
                <a:spcPts val="2940"/>
              </a:lnSpc>
              <a:spcBef>
                <a:spcPct val="0"/>
              </a:spcBef>
            </a:pPr>
            <a:endParaRPr lang="en-US" sz="2100">
              <a:solidFill>
                <a:srgbClr val="000000"/>
              </a:solidFill>
              <a:latin typeface="Canva Sans"/>
              <a:ea typeface="Canva Sans"/>
              <a:cs typeface="Canva Sans"/>
              <a:sym typeface="Canva Sans"/>
            </a:endParaRPr>
          </a:p>
          <a:p>
            <a:pPr algn="just">
              <a:lnSpc>
                <a:spcPts val="2940"/>
              </a:lnSpc>
              <a:spcBef>
                <a:spcPct val="0"/>
              </a:spcBef>
            </a:pPr>
            <a:endParaRPr lang="en-US" sz="2100">
              <a:solidFill>
                <a:srgbClr val="000000"/>
              </a:solidFill>
              <a:latin typeface="Canva Sans"/>
              <a:ea typeface="Canva Sans"/>
              <a:cs typeface="Canva Sans"/>
              <a:sym typeface="Canva Sans"/>
            </a:endParaRPr>
          </a:p>
          <a:p>
            <a:pPr algn="just">
              <a:lnSpc>
                <a:spcPts val="2940"/>
              </a:lnSpc>
              <a:spcBef>
                <a:spcPct val="0"/>
              </a:spcBef>
            </a:pPr>
            <a:endParaRPr lang="en-US" sz="2100">
              <a:solidFill>
                <a:srgbClr val="000000"/>
              </a:solidFill>
              <a:latin typeface="Canva Sans"/>
              <a:ea typeface="Canva Sans"/>
              <a:cs typeface="Canva Sans"/>
              <a:sym typeface="Canva Sans"/>
            </a:endParaRPr>
          </a:p>
          <a:p>
            <a:pPr algn="just">
              <a:lnSpc>
                <a:spcPts val="2940"/>
              </a:lnSpc>
              <a:spcBef>
                <a:spcPct val="0"/>
              </a:spcBef>
            </a:pPr>
            <a:endParaRPr lang="en-US" sz="2100">
              <a:solidFill>
                <a:srgbClr val="000000"/>
              </a:solidFill>
              <a:latin typeface="Canva Sans"/>
              <a:ea typeface="Canva Sans"/>
              <a:cs typeface="Canva Sans"/>
              <a:sym typeface="Canva Sans"/>
            </a:endParaRPr>
          </a:p>
        </p:txBody>
      </p:sp>
      <p:grpSp>
        <p:nvGrpSpPr>
          <p:cNvPr id="6" name="Group 6"/>
          <p:cNvGrpSpPr/>
          <p:nvPr/>
        </p:nvGrpSpPr>
        <p:grpSpPr>
          <a:xfrm>
            <a:off x="-1100840" y="9389464"/>
            <a:ext cx="19388840" cy="2068530"/>
            <a:chOff x="0" y="0"/>
            <a:chExt cx="5106526" cy="544798"/>
          </a:xfrm>
        </p:grpSpPr>
        <p:sp>
          <p:nvSpPr>
            <p:cNvPr id="7" name="Freeform 7"/>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8" name="TextBox 8"/>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1100840" y="9389464"/>
            <a:ext cx="19388840" cy="2068530"/>
            <a:chOff x="0" y="0"/>
            <a:chExt cx="5106526" cy="544798"/>
          </a:xfrm>
        </p:grpSpPr>
        <p:sp>
          <p:nvSpPr>
            <p:cNvPr id="3" name="Freeform 3"/>
            <p:cNvSpPr/>
            <p:nvPr/>
          </p:nvSpPr>
          <p:spPr>
            <a:xfrm>
              <a:off x="0" y="0"/>
              <a:ext cx="5106526" cy="544798"/>
            </a:xfrm>
            <a:custGeom>
              <a:avLst/>
              <a:gdLst/>
              <a:ahLst/>
              <a:cxnLst/>
              <a:rect l="l" t="t" r="r" b="b"/>
              <a:pathLst>
                <a:path w="5106526" h="544798">
                  <a:moveTo>
                    <a:pt x="0" y="0"/>
                  </a:moveTo>
                  <a:lnTo>
                    <a:pt x="5106526" y="0"/>
                  </a:lnTo>
                  <a:lnTo>
                    <a:pt x="5106526" y="544798"/>
                  </a:lnTo>
                  <a:lnTo>
                    <a:pt x="0" y="544798"/>
                  </a:lnTo>
                  <a:close/>
                </a:path>
              </a:pathLst>
            </a:custGeom>
            <a:solidFill>
              <a:srgbClr val="990201"/>
            </a:solidFill>
          </p:spPr>
          <p:txBody>
            <a:bodyPr/>
            <a:lstStyle/>
            <a:p>
              <a:endParaRPr lang="en-US"/>
            </a:p>
          </p:txBody>
        </p:sp>
        <p:sp>
          <p:nvSpPr>
            <p:cNvPr id="4" name="TextBox 4"/>
            <p:cNvSpPr txBox="1"/>
            <p:nvPr/>
          </p:nvSpPr>
          <p:spPr>
            <a:xfrm>
              <a:off x="0" y="-38100"/>
              <a:ext cx="5106526" cy="582898"/>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grpSp>
        <p:nvGrpSpPr>
          <p:cNvPr id="6" name="Group 6"/>
          <p:cNvGrpSpPr/>
          <p:nvPr/>
        </p:nvGrpSpPr>
        <p:grpSpPr>
          <a:xfrm>
            <a:off x="0" y="1382145"/>
            <a:ext cx="331657" cy="950002"/>
            <a:chOff x="0" y="0"/>
            <a:chExt cx="87350" cy="250206"/>
          </a:xfrm>
        </p:grpSpPr>
        <p:sp>
          <p:nvSpPr>
            <p:cNvPr id="7" name="Freeform 7"/>
            <p:cNvSpPr/>
            <p:nvPr/>
          </p:nvSpPr>
          <p:spPr>
            <a:xfrm>
              <a:off x="0" y="0"/>
              <a:ext cx="87350" cy="250206"/>
            </a:xfrm>
            <a:custGeom>
              <a:avLst/>
              <a:gdLst/>
              <a:ahLst/>
              <a:cxnLst/>
              <a:rect l="l" t="t" r="r" b="b"/>
              <a:pathLst>
                <a:path w="87350" h="250206">
                  <a:moveTo>
                    <a:pt x="0" y="0"/>
                  </a:moveTo>
                  <a:lnTo>
                    <a:pt x="87350" y="0"/>
                  </a:lnTo>
                  <a:lnTo>
                    <a:pt x="87350" y="250206"/>
                  </a:lnTo>
                  <a:lnTo>
                    <a:pt x="0" y="250206"/>
                  </a:lnTo>
                  <a:close/>
                </a:path>
              </a:pathLst>
            </a:custGeom>
            <a:solidFill>
              <a:srgbClr val="990201"/>
            </a:solidFill>
          </p:spPr>
          <p:txBody>
            <a:bodyPr/>
            <a:lstStyle/>
            <a:p>
              <a:endParaRPr lang="en-US"/>
            </a:p>
          </p:txBody>
        </p:sp>
        <p:sp>
          <p:nvSpPr>
            <p:cNvPr id="8" name="TextBox 8"/>
            <p:cNvSpPr txBox="1"/>
            <p:nvPr/>
          </p:nvSpPr>
          <p:spPr>
            <a:xfrm>
              <a:off x="0" y="-38100"/>
              <a:ext cx="87350" cy="288306"/>
            </a:xfrm>
            <a:prstGeom prst="rect">
              <a:avLst/>
            </a:prstGeom>
          </p:spPr>
          <p:txBody>
            <a:bodyPr lIns="50800" tIns="50800" rIns="50800" bIns="50800" rtlCol="0" anchor="ctr"/>
            <a:lstStyle/>
            <a:p>
              <a:pPr algn="ctr">
                <a:lnSpc>
                  <a:spcPts val="3359"/>
                </a:lnSpc>
              </a:pPr>
              <a:endParaRPr/>
            </a:p>
          </p:txBody>
        </p:sp>
      </p:grpSp>
      <p:sp>
        <p:nvSpPr>
          <p:cNvPr id="9" name="TextBox 9"/>
          <p:cNvSpPr txBox="1"/>
          <p:nvPr/>
        </p:nvSpPr>
        <p:spPr>
          <a:xfrm>
            <a:off x="1405328" y="1454453"/>
            <a:ext cx="15363661" cy="1951990"/>
          </a:xfrm>
          <a:prstGeom prst="rect">
            <a:avLst/>
          </a:prstGeom>
        </p:spPr>
        <p:txBody>
          <a:bodyPr lIns="0" tIns="0" rIns="0" bIns="0" rtlCol="0" anchor="t">
            <a:spAutoFit/>
          </a:bodyPr>
          <a:lstStyle/>
          <a:p>
            <a:pPr algn="l">
              <a:lnSpc>
                <a:spcPts val="6160"/>
              </a:lnSpc>
            </a:pPr>
            <a:r>
              <a:rPr lang="en-US" sz="4400" b="1">
                <a:solidFill>
                  <a:srgbClr val="000000"/>
                </a:solidFill>
                <a:latin typeface="Canva Sans Bold"/>
                <a:ea typeface="Canva Sans Bold"/>
                <a:cs typeface="Canva Sans Bold"/>
                <a:sym typeface="Canva Sans Bold"/>
              </a:rPr>
              <a:t>Preliminary Exploration</a:t>
            </a:r>
          </a:p>
          <a:p>
            <a:pPr algn="l">
              <a:lnSpc>
                <a:spcPts val="3359"/>
              </a:lnSpc>
            </a:pPr>
            <a:endParaRPr lang="en-US" sz="4400" b="1">
              <a:solidFill>
                <a:srgbClr val="000000"/>
              </a:solidFill>
              <a:latin typeface="Canva Sans Bold"/>
              <a:ea typeface="Canva Sans Bold"/>
              <a:cs typeface="Canva Sans Bold"/>
              <a:sym typeface="Canva Sans Bold"/>
            </a:endParaRPr>
          </a:p>
          <a:p>
            <a:pPr algn="l">
              <a:lnSpc>
                <a:spcPts val="2660"/>
              </a:lnSpc>
              <a:spcBef>
                <a:spcPct val="0"/>
              </a:spcBef>
            </a:pPr>
            <a:endParaRPr lang="en-US" sz="4400" b="1">
              <a:solidFill>
                <a:srgbClr val="000000"/>
              </a:solidFill>
              <a:latin typeface="Canva Sans Bold"/>
              <a:ea typeface="Canva Sans Bold"/>
              <a:cs typeface="Canva Sans Bold"/>
              <a:sym typeface="Canva Sans Bold"/>
            </a:endParaRPr>
          </a:p>
          <a:p>
            <a:pPr algn="l">
              <a:lnSpc>
                <a:spcPts val="3359"/>
              </a:lnSpc>
              <a:spcBef>
                <a:spcPct val="0"/>
              </a:spcBef>
            </a:pPr>
            <a:endParaRPr lang="en-US" sz="4400" b="1">
              <a:solidFill>
                <a:srgbClr val="000000"/>
              </a:solidFill>
              <a:latin typeface="Canva Sans Bold"/>
              <a:ea typeface="Canva Sans Bold"/>
              <a:cs typeface="Canva Sans Bold"/>
              <a:sym typeface="Canva Sans Bold"/>
            </a:endParaRPr>
          </a:p>
        </p:txBody>
      </p:sp>
      <p:sp>
        <p:nvSpPr>
          <p:cNvPr id="10" name="TextBox 10"/>
          <p:cNvSpPr txBox="1"/>
          <p:nvPr/>
        </p:nvSpPr>
        <p:spPr>
          <a:xfrm>
            <a:off x="1405328" y="2651760"/>
            <a:ext cx="16440649" cy="5425440"/>
          </a:xfrm>
          <a:prstGeom prst="rect">
            <a:avLst/>
          </a:prstGeom>
        </p:spPr>
        <p:txBody>
          <a:bodyPr lIns="0" tIns="0" rIns="0" bIns="0" rtlCol="0" anchor="t">
            <a:spAutoFit/>
          </a:bodyPr>
          <a:lstStyle/>
          <a:p>
            <a:pPr algn="l">
              <a:lnSpc>
                <a:spcPts val="3359"/>
              </a:lnSpc>
            </a:pPr>
            <a:endParaRPr/>
          </a:p>
          <a:p>
            <a:pPr algn="l">
              <a:lnSpc>
                <a:spcPts val="3359"/>
              </a:lnSpc>
            </a:pPr>
            <a:r>
              <a:rPr lang="en-US" sz="2399">
                <a:solidFill>
                  <a:srgbClr val="000000"/>
                </a:solidFill>
                <a:latin typeface="Canva Sans"/>
                <a:ea typeface="Canva Sans"/>
                <a:cs typeface="Canva Sans"/>
                <a:sym typeface="Canva Sans"/>
              </a:rPr>
              <a:t>Initial exploration reveals a wide distribution of wage rates and a variety of job titles and SOC codes across multiple geographic regions. We have identified variations in wage distributions that suggest differences in employer practices, as well as seasonal or policy-driven trends in filing volumes. This early insight confirms that our dataset is robust and well-suited for multi-dimensional analysis.</a:t>
            </a:r>
          </a:p>
          <a:p>
            <a:pPr algn="l">
              <a:lnSpc>
                <a:spcPts val="3359"/>
              </a:lnSpc>
            </a:pPr>
            <a:endParaRPr lang="en-US" sz="2399">
              <a:solidFill>
                <a:srgbClr val="000000"/>
              </a:solidFill>
              <a:latin typeface="Canva Sans"/>
              <a:ea typeface="Canva Sans"/>
              <a:cs typeface="Canva Sans"/>
              <a:sym typeface="Canva Sans"/>
            </a:endParaRP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Filtered for H-1B applications only</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Normalized wage values to annual salary</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Cleaned missing/incorrect data</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Focused on realistic salary ranges ($20,000–$500,000)</a:t>
            </a:r>
          </a:p>
          <a:p>
            <a:pPr marL="518158" lvl="1" indent="-259079" algn="l">
              <a:lnSpc>
                <a:spcPts val="3359"/>
              </a:lnSpc>
              <a:buFont typeface="Arial"/>
              <a:buChar char="•"/>
            </a:pPr>
            <a:r>
              <a:rPr lang="en-US" sz="2399">
                <a:solidFill>
                  <a:srgbClr val="000000"/>
                </a:solidFill>
                <a:latin typeface="Canva Sans"/>
                <a:ea typeface="Canva Sans"/>
                <a:cs typeface="Canva Sans"/>
                <a:sym typeface="Canva Sans"/>
              </a:rPr>
              <a:t>Extracted year from received dates for temporal analysis</a:t>
            </a:r>
          </a:p>
          <a:p>
            <a:pPr algn="l">
              <a:lnSpc>
                <a:spcPts val="3359"/>
              </a:lnSpc>
              <a:spcBef>
                <a:spcPct val="0"/>
              </a:spcBef>
            </a:pPr>
            <a:endParaRPr lang="en-US" sz="2399">
              <a:solidFill>
                <a:srgbClr val="000000"/>
              </a:solidFill>
              <a:latin typeface="Canva Sans"/>
              <a:ea typeface="Canva Sans"/>
              <a:cs typeface="Canva Sans"/>
              <a:sym typeface="Canva Sans"/>
            </a:endParaRPr>
          </a:p>
          <a:p>
            <a:pPr algn="l">
              <a:lnSpc>
                <a:spcPts val="3359"/>
              </a:lnSpc>
              <a:spcBef>
                <a:spcPct val="0"/>
              </a:spcBef>
            </a:pPr>
            <a:endParaRPr lang="en-US" sz="2399">
              <a:solidFill>
                <a:srgbClr val="000000"/>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523220"/>
          </a:xfrm>
          <a:prstGeom prst="rect">
            <a:avLst/>
          </a:prstGeom>
          <a:noFill/>
        </p:spPr>
        <p:txBody>
          <a:bodyPr wrap="square" rtlCol="0">
            <a:spAutoFit/>
          </a:bodyPr>
          <a:lstStyle/>
          <a:p>
            <a:pPr lvl="1"/>
            <a:r>
              <a:rPr lang="en-IN" sz="2800" b="1" dirty="0">
                <a:latin typeface="Times New Roman" panose="02020603050405020304" pitchFamily="18" charset="0"/>
                <a:cs typeface="Times New Roman" panose="02020603050405020304" pitchFamily="18" charset="0"/>
              </a:rPr>
              <a:t>Q1. Which job roles and industries dominate H-1B sponsorship? </a:t>
            </a:r>
            <a:endParaRPr lang="en-IN" sz="20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1920660" y="2576814"/>
            <a:ext cx="6613740" cy="4852686"/>
          </a:xfrm>
          <a:prstGeom prst="rect">
            <a:avLst/>
          </a:prstGeom>
        </p:spPr>
      </p:pic>
      <p:pic>
        <p:nvPicPr>
          <p:cNvPr id="14" name="Picture 13"/>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67800" y="2576814"/>
            <a:ext cx="7315200" cy="4852686"/>
          </a:xfrm>
          <a:prstGeom prst="rect">
            <a:avLst/>
          </a:prstGeom>
          <a:noFill/>
          <a:ln>
            <a:noFill/>
          </a:ln>
        </p:spPr>
      </p:pic>
    </p:spTree>
    <p:extLst>
      <p:ext uri="{BB962C8B-B14F-4D97-AF65-F5344CB8AC3E}">
        <p14:creationId xmlns:p14="http://schemas.microsoft.com/office/powerpoint/2010/main" val="803443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523220"/>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Q2. Are H-1B wages generally higher than prevailing wages across states and occupations? </a:t>
            </a:r>
            <a:endParaRPr lang="en-IN" sz="2000" dirty="0">
              <a:latin typeface="Times New Roman" panose="02020603050405020304" pitchFamily="18" charset="0"/>
              <a:cs typeface="Times New Roman" panose="02020603050405020304" pitchFamily="18" charset="0"/>
            </a:endParaRPr>
          </a:p>
        </p:txBody>
      </p:sp>
      <p:pic>
        <p:nvPicPr>
          <p:cNvPr id="15" name="Picture 14"/>
          <p:cNvPicPr/>
          <p:nvPr/>
        </p:nvPicPr>
        <p:blipFill>
          <a:blip r:embed="rId3"/>
          <a:stretch>
            <a:fillRect/>
          </a:stretch>
        </p:blipFill>
        <p:spPr>
          <a:xfrm>
            <a:off x="4370940" y="2876610"/>
            <a:ext cx="8971559" cy="4876800"/>
          </a:xfrm>
          <a:prstGeom prst="rect">
            <a:avLst/>
          </a:prstGeom>
        </p:spPr>
      </p:pic>
      <p:sp>
        <p:nvSpPr>
          <p:cNvPr id="9" name="Rectangle 8"/>
          <p:cNvSpPr/>
          <p:nvPr/>
        </p:nvSpPr>
        <p:spPr>
          <a:xfrm>
            <a:off x="4973041" y="2476500"/>
            <a:ext cx="7371359" cy="400110"/>
          </a:xfrm>
          <a:prstGeom prst="rect">
            <a:avLst/>
          </a:prstGeom>
        </p:spPr>
        <p:txBody>
          <a:bodyPr wrap="square">
            <a:spAutoFit/>
          </a:bodyPr>
          <a:lstStyle/>
          <a:p>
            <a:pPr algn="ctr"/>
            <a:r>
              <a:rPr lang="en-IN" sz="2000" b="1" dirty="0">
                <a:latin typeface="Times New Roman" panose="02020603050405020304" pitchFamily="18" charset="0"/>
                <a:ea typeface="Calibri" panose="020F0502020204030204" pitchFamily="34" charset="0"/>
                <a:cs typeface="Times New Roman" panose="02020603050405020304" pitchFamily="18" charset="0"/>
              </a:rPr>
              <a:t>H-1B Offered vs. Prevailing Wages by Occupation (Bar Chart)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715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523220"/>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Q2. Are H-1B wages generally higher than prevailing wages across states and occupations? </a:t>
            </a:r>
            <a:endParaRPr lang="en-IN"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4973041" y="2476500"/>
            <a:ext cx="737135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Percentage Wage Difference by State (Box Plot)</a:t>
            </a:r>
            <a:endParaRPr lang="en-IN" sz="24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4402580" y="2949856"/>
            <a:ext cx="8382000" cy="5343390"/>
          </a:xfrm>
          <a:prstGeom prst="rect">
            <a:avLst/>
          </a:prstGeom>
        </p:spPr>
      </p:pic>
    </p:spTree>
    <p:extLst>
      <p:ext uri="{BB962C8B-B14F-4D97-AF65-F5344CB8AC3E}">
        <p14:creationId xmlns:p14="http://schemas.microsoft.com/office/powerpoint/2010/main" val="89213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523220"/>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Q2. Are H-1B wages generally higher than prevailing wages across states and occupations? </a:t>
            </a:r>
            <a:endParaRPr lang="en-IN"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5638800" y="2490360"/>
            <a:ext cx="737135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Salary Bucket Comparison (Bar Chart)</a:t>
            </a:r>
            <a:endParaRPr lang="en-IN" sz="24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4114800" y="3071096"/>
            <a:ext cx="9791102" cy="5403538"/>
          </a:xfrm>
          <a:prstGeom prst="rect">
            <a:avLst/>
          </a:prstGeom>
        </p:spPr>
      </p:pic>
    </p:spTree>
    <p:extLst>
      <p:ext uri="{BB962C8B-B14F-4D97-AF65-F5344CB8AC3E}">
        <p14:creationId xmlns:p14="http://schemas.microsoft.com/office/powerpoint/2010/main" val="525998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523220"/>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Q2. Are H-1B wages generally higher than prevailing wages across states and occupations? </a:t>
            </a:r>
            <a:endParaRPr lang="en-IN"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4561440" y="2537100"/>
            <a:ext cx="859055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Salary Distribution – H-1B vs. US Workforce (Density Plot)</a:t>
            </a:r>
            <a:endParaRPr lang="en-IN" sz="24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3429000" y="3115590"/>
            <a:ext cx="11411585" cy="5623560"/>
          </a:xfrm>
          <a:prstGeom prst="rect">
            <a:avLst/>
          </a:prstGeom>
        </p:spPr>
      </p:pic>
    </p:spTree>
    <p:extLst>
      <p:ext uri="{BB962C8B-B14F-4D97-AF65-F5344CB8AC3E}">
        <p14:creationId xmlns:p14="http://schemas.microsoft.com/office/powerpoint/2010/main" val="3768167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a:extLst>
            <a:ext uri="{FF2B5EF4-FFF2-40B4-BE49-F238E27FC236}">
              <a16:creationId xmlns:a16="http://schemas.microsoft.com/office/drawing/2014/main" id="{26ECEF61-93DD-509F-0BB5-F77AD2885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E056D8-2F07-2B6D-362B-D0A296875D8D}"/>
              </a:ext>
            </a:extLst>
          </p:cNvPr>
          <p:cNvGrpSpPr/>
          <p:nvPr/>
        </p:nvGrpSpPr>
        <p:grpSpPr>
          <a:xfrm>
            <a:off x="0" y="468375"/>
            <a:ext cx="331657" cy="818838"/>
            <a:chOff x="0" y="0"/>
            <a:chExt cx="87350" cy="215661"/>
          </a:xfrm>
        </p:grpSpPr>
        <p:sp>
          <p:nvSpPr>
            <p:cNvPr id="3" name="Freeform 3">
              <a:extLst>
                <a:ext uri="{FF2B5EF4-FFF2-40B4-BE49-F238E27FC236}">
                  <a16:creationId xmlns:a16="http://schemas.microsoft.com/office/drawing/2014/main" id="{CCA69B1C-AA4A-CBB1-AC5E-3D2EE0D69BB0}"/>
                </a:ext>
              </a:extLst>
            </p:cNvPr>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a:extLst>
                <a:ext uri="{FF2B5EF4-FFF2-40B4-BE49-F238E27FC236}">
                  <a16:creationId xmlns:a16="http://schemas.microsoft.com/office/drawing/2014/main" id="{5CDBF834-D6A4-1991-9175-6F1D0BCEFDAB}"/>
                </a:ext>
              </a:extLst>
            </p:cNvPr>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a:extLst>
              <a:ext uri="{FF2B5EF4-FFF2-40B4-BE49-F238E27FC236}">
                <a16:creationId xmlns:a16="http://schemas.microsoft.com/office/drawing/2014/main" id="{834D74F6-B877-92A3-3CD5-3EAEB17C3222}"/>
              </a:ext>
            </a:extLst>
          </p:cNvPr>
          <p:cNvGrpSpPr/>
          <p:nvPr/>
        </p:nvGrpSpPr>
        <p:grpSpPr>
          <a:xfrm>
            <a:off x="-1100840" y="9258300"/>
            <a:ext cx="19388840" cy="2199694"/>
            <a:chOff x="0" y="0"/>
            <a:chExt cx="5106526" cy="579343"/>
          </a:xfrm>
        </p:grpSpPr>
        <p:sp>
          <p:nvSpPr>
            <p:cNvPr id="6" name="Freeform 6">
              <a:extLst>
                <a:ext uri="{FF2B5EF4-FFF2-40B4-BE49-F238E27FC236}">
                  <a16:creationId xmlns:a16="http://schemas.microsoft.com/office/drawing/2014/main" id="{24904239-F399-E133-A86C-586058FE3B40}"/>
                </a:ext>
              </a:extLst>
            </p:cNvPr>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a:extLst>
                <a:ext uri="{FF2B5EF4-FFF2-40B4-BE49-F238E27FC236}">
                  <a16:creationId xmlns:a16="http://schemas.microsoft.com/office/drawing/2014/main" id="{B5885613-09B0-D9DA-C133-02CC6B30CF63}"/>
                </a:ext>
              </a:extLst>
            </p:cNvPr>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a:extLst>
              <a:ext uri="{FF2B5EF4-FFF2-40B4-BE49-F238E27FC236}">
                <a16:creationId xmlns:a16="http://schemas.microsoft.com/office/drawing/2014/main" id="{572C4A43-15F4-BB93-6EE5-88D206490918}"/>
              </a:ext>
            </a:extLst>
          </p:cNvPr>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7" name="TextBox 10">
            <a:extLst>
              <a:ext uri="{FF2B5EF4-FFF2-40B4-BE49-F238E27FC236}">
                <a16:creationId xmlns:a16="http://schemas.microsoft.com/office/drawing/2014/main" id="{51509143-4179-3626-E428-DBC9673D9116}"/>
              </a:ext>
            </a:extLst>
          </p:cNvPr>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8" name="TextBox 17">
            <a:extLst>
              <a:ext uri="{FF2B5EF4-FFF2-40B4-BE49-F238E27FC236}">
                <a16:creationId xmlns:a16="http://schemas.microsoft.com/office/drawing/2014/main" id="{BEAD714C-1FCD-E44E-67B7-2243F39D27F4}"/>
              </a:ext>
            </a:extLst>
          </p:cNvPr>
          <p:cNvSpPr txBox="1"/>
          <p:nvPr/>
        </p:nvSpPr>
        <p:spPr>
          <a:xfrm>
            <a:off x="1575232" y="1432107"/>
            <a:ext cx="14334962" cy="523220"/>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Q2. Are H-1B wages generally higher than prevailing wages across states and occupations? </a:t>
            </a:r>
            <a:endParaRPr lang="en-IN" sz="200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F8767EE1-1497-610D-4A3C-748BC3668024}"/>
              </a:ext>
            </a:extLst>
          </p:cNvPr>
          <p:cNvSpPr/>
          <p:nvPr/>
        </p:nvSpPr>
        <p:spPr>
          <a:xfrm>
            <a:off x="4267200" y="2473470"/>
            <a:ext cx="935255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Top 20 Occupations by Average H-1B Wage (Bar Chart)</a:t>
            </a:r>
            <a:endParaRPr lang="en-IN" sz="28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2A48E2B6-E274-518D-4AB7-5E021BE76710}"/>
              </a:ext>
            </a:extLst>
          </p:cNvPr>
          <p:cNvPicPr/>
          <p:nvPr/>
        </p:nvPicPr>
        <p:blipFill>
          <a:blip r:embed="rId3"/>
          <a:stretch>
            <a:fillRect/>
          </a:stretch>
        </p:blipFill>
        <p:spPr>
          <a:xfrm>
            <a:off x="3733800" y="3162391"/>
            <a:ext cx="10744200" cy="5305928"/>
          </a:xfrm>
          <a:prstGeom prst="rect">
            <a:avLst/>
          </a:prstGeom>
        </p:spPr>
      </p:pic>
    </p:spTree>
    <p:extLst>
      <p:ext uri="{BB962C8B-B14F-4D97-AF65-F5344CB8AC3E}">
        <p14:creationId xmlns:p14="http://schemas.microsoft.com/office/powerpoint/2010/main" val="58295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954107"/>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Q3. Do employers that heavily depend on H-1B workers display different wage behaviour than others? </a:t>
            </a:r>
            <a:endParaRPr lang="en-IN" sz="2800" dirty="0">
              <a:latin typeface="Times New Roman" panose="02020603050405020304" pitchFamily="18" charset="0"/>
              <a:cs typeface="Times New Roman" panose="02020603050405020304" pitchFamily="18" charset="0"/>
            </a:endParaRPr>
          </a:p>
        </p:txBody>
      </p:sp>
      <p:sp>
        <p:nvSpPr>
          <p:cNvPr id="9" name="Rectangle 8"/>
          <p:cNvSpPr/>
          <p:nvPr/>
        </p:nvSpPr>
        <p:spPr>
          <a:xfrm>
            <a:off x="3962400" y="2537100"/>
            <a:ext cx="918959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Wage Comparison – Heavy vs. Light H-1B Employers (Box Plot)</a:t>
            </a:r>
            <a:endParaRPr lang="en-IN" sz="24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3657706" y="3143426"/>
            <a:ext cx="10439294" cy="5505274"/>
          </a:xfrm>
          <a:prstGeom prst="rect">
            <a:avLst/>
          </a:prstGeom>
        </p:spPr>
      </p:pic>
    </p:spTree>
    <p:extLst>
      <p:ext uri="{BB962C8B-B14F-4D97-AF65-F5344CB8AC3E}">
        <p14:creationId xmlns:p14="http://schemas.microsoft.com/office/powerpoint/2010/main" val="3840653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954107"/>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Q3. Do employers that heavily depend on H-1B workers display different wage behaviour than others? </a:t>
            </a:r>
            <a:endParaRPr lang="en-IN" sz="2800" dirty="0">
              <a:latin typeface="Times New Roman" panose="02020603050405020304" pitchFamily="18" charset="0"/>
              <a:cs typeface="Times New Roman" panose="02020603050405020304" pitchFamily="18" charset="0"/>
            </a:endParaRPr>
          </a:p>
        </p:txBody>
      </p:sp>
      <p:sp>
        <p:nvSpPr>
          <p:cNvPr id="9" name="Rectangle 8"/>
          <p:cNvSpPr/>
          <p:nvPr/>
        </p:nvSpPr>
        <p:spPr>
          <a:xfrm>
            <a:off x="4495800" y="2566700"/>
            <a:ext cx="91895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KDE Plot – Wage Distribution by Employer Type</a:t>
            </a:r>
            <a:endParaRPr lang="en-IN" sz="28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4059005" y="3118921"/>
            <a:ext cx="9733195" cy="5820261"/>
          </a:xfrm>
          <a:prstGeom prst="rect">
            <a:avLst/>
          </a:prstGeom>
        </p:spPr>
      </p:pic>
    </p:spTree>
    <p:extLst>
      <p:ext uri="{BB962C8B-B14F-4D97-AF65-F5344CB8AC3E}">
        <p14:creationId xmlns:p14="http://schemas.microsoft.com/office/powerpoint/2010/main" val="934260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5232" y="1432107"/>
            <a:ext cx="14334962" cy="954107"/>
          </a:xfrm>
          <a:prstGeom prst="rect">
            <a:avLst/>
          </a:prstGeom>
          <a:noFill/>
        </p:spPr>
        <p:txBody>
          <a:bodyPr wrap="square" rtlCol="0">
            <a:spAutoFit/>
          </a:bodyPr>
          <a:lstStyle/>
          <a:p>
            <a:pPr lvl="0"/>
            <a:r>
              <a:rPr lang="en-IN" sz="2800" b="1" dirty="0">
                <a:latin typeface="Times New Roman" panose="02020603050405020304" pitchFamily="18" charset="0"/>
                <a:cs typeface="Times New Roman" panose="02020603050405020304" pitchFamily="18" charset="0"/>
              </a:rPr>
              <a:t>Q3. Do employers that heavily depend on H-1B workers display different wage behaviour than others? </a:t>
            </a:r>
            <a:endParaRPr lang="en-IN" sz="2800" dirty="0">
              <a:latin typeface="Times New Roman" panose="02020603050405020304" pitchFamily="18" charset="0"/>
              <a:cs typeface="Times New Roman" panose="02020603050405020304" pitchFamily="18" charset="0"/>
            </a:endParaRPr>
          </a:p>
        </p:txBody>
      </p:sp>
      <p:sp>
        <p:nvSpPr>
          <p:cNvPr id="9" name="Rectangle 8"/>
          <p:cNvSpPr/>
          <p:nvPr/>
        </p:nvSpPr>
        <p:spPr>
          <a:xfrm>
            <a:off x="4572000" y="2713622"/>
            <a:ext cx="91895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Violin Plot – Annual Wages by Employer Type</a:t>
            </a:r>
            <a:endParaRPr lang="en-IN" sz="28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3527752" y="3307874"/>
            <a:ext cx="10429921" cy="5353502"/>
          </a:xfrm>
          <a:prstGeom prst="rect">
            <a:avLst/>
          </a:prstGeom>
        </p:spPr>
      </p:pic>
    </p:spTree>
    <p:extLst>
      <p:ext uri="{BB962C8B-B14F-4D97-AF65-F5344CB8AC3E}">
        <p14:creationId xmlns:p14="http://schemas.microsoft.com/office/powerpoint/2010/main" val="1619061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334962" cy="1692771"/>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Q4. Which U.S. states serve as hotspots for specific occupations under the H-1B program?</a:t>
            </a:r>
            <a:endParaRPr lang="en-IN" sz="3200" dirty="0">
              <a:latin typeface="Times New Roman" panose="02020603050405020304" pitchFamily="18" charset="0"/>
              <a:cs typeface="Times New Roman" panose="02020603050405020304" pitchFamily="18" charset="0"/>
            </a:endParaRPr>
          </a:p>
          <a:p>
            <a:pPr lvl="0"/>
            <a:endParaRPr lang="en-IN" sz="3600" dirty="0">
              <a:latin typeface="Times New Roman" panose="02020603050405020304" pitchFamily="18" charset="0"/>
              <a:cs typeface="Times New Roman" panose="02020603050405020304" pitchFamily="18" charset="0"/>
            </a:endParaRPr>
          </a:p>
        </p:txBody>
      </p:sp>
      <p:sp>
        <p:nvSpPr>
          <p:cNvPr id="9" name="Rectangle 8"/>
          <p:cNvSpPr/>
          <p:nvPr/>
        </p:nvSpPr>
        <p:spPr>
          <a:xfrm>
            <a:off x="4038600" y="2597639"/>
            <a:ext cx="10332599" cy="461665"/>
          </a:xfrm>
          <a:prstGeom prst="rect">
            <a:avLst/>
          </a:prstGeom>
        </p:spPr>
        <p:txBody>
          <a:bodyPr wrap="square">
            <a:spAutoFit/>
          </a:bodyPr>
          <a:lstStyle/>
          <a:p>
            <a:pPr lvl="1" algn="ctr"/>
            <a:r>
              <a:rPr lang="en-IN" sz="2400" b="1" dirty="0">
                <a:latin typeface="Times New Roman" panose="02020603050405020304" pitchFamily="18" charset="0"/>
                <a:cs typeface="Times New Roman" panose="02020603050405020304" pitchFamily="18" charset="0"/>
              </a:rPr>
              <a:t>Flow of H-1B Workers – Occupation to State (Sankey Diagram)</a:t>
            </a:r>
            <a:endParaRPr lang="en-IN" sz="24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4572000" y="3059304"/>
            <a:ext cx="9610090" cy="5905500"/>
          </a:xfrm>
          <a:prstGeom prst="rect">
            <a:avLst/>
          </a:prstGeom>
        </p:spPr>
      </p:pic>
    </p:spTree>
    <p:extLst>
      <p:ext uri="{BB962C8B-B14F-4D97-AF65-F5344CB8AC3E}">
        <p14:creationId xmlns:p14="http://schemas.microsoft.com/office/powerpoint/2010/main" val="390071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334962" cy="1692771"/>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Q4. Which U.S. states serve as hotspots for specific occupations under the H-1B program?</a:t>
            </a:r>
            <a:endParaRPr lang="en-IN" sz="3200" dirty="0">
              <a:latin typeface="Times New Roman" panose="02020603050405020304" pitchFamily="18" charset="0"/>
              <a:cs typeface="Times New Roman" panose="02020603050405020304" pitchFamily="18" charset="0"/>
            </a:endParaRPr>
          </a:p>
          <a:p>
            <a:pPr lvl="0"/>
            <a:endParaRPr lang="en-IN" sz="3600" dirty="0">
              <a:latin typeface="Times New Roman" panose="02020603050405020304" pitchFamily="18" charset="0"/>
              <a:cs typeface="Times New Roman" panose="02020603050405020304" pitchFamily="18" charset="0"/>
            </a:endParaRPr>
          </a:p>
        </p:txBody>
      </p:sp>
      <p:sp>
        <p:nvSpPr>
          <p:cNvPr id="9" name="Rectangle 8"/>
          <p:cNvSpPr/>
          <p:nvPr/>
        </p:nvSpPr>
        <p:spPr>
          <a:xfrm>
            <a:off x="3810000" y="2471697"/>
            <a:ext cx="110183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Choropleth Map – H-1B Applications Distribution Across States</a:t>
            </a:r>
            <a:endParaRPr lang="en-IN" sz="28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4038600" y="3176540"/>
            <a:ext cx="10515600" cy="5624559"/>
          </a:xfrm>
          <a:prstGeom prst="rect">
            <a:avLst/>
          </a:prstGeom>
        </p:spPr>
      </p:pic>
    </p:spTree>
    <p:extLst>
      <p:ext uri="{BB962C8B-B14F-4D97-AF65-F5344CB8AC3E}">
        <p14:creationId xmlns:p14="http://schemas.microsoft.com/office/powerpoint/2010/main" val="943035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1631216"/>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Q4. Which U.S. states serve as hotspots for specific occupations under the H-1B program?</a:t>
            </a:r>
            <a:endParaRPr lang="en-IN" sz="3200" dirty="0">
              <a:latin typeface="Times New Roman" panose="02020603050405020304" pitchFamily="18" charset="0"/>
              <a:cs typeface="Times New Roman" panose="02020603050405020304" pitchFamily="18" charset="0"/>
            </a:endParaRPr>
          </a:p>
          <a:p>
            <a:pPr lvl="0"/>
            <a:endParaRPr lang="en-IN" sz="3600" dirty="0">
              <a:latin typeface="Times New Roman" panose="02020603050405020304" pitchFamily="18" charset="0"/>
              <a:cs typeface="Times New Roman" panose="02020603050405020304" pitchFamily="18" charset="0"/>
            </a:endParaRPr>
          </a:p>
        </p:txBody>
      </p:sp>
      <p:sp>
        <p:nvSpPr>
          <p:cNvPr id="9" name="Rectangle 8"/>
          <p:cNvSpPr/>
          <p:nvPr/>
        </p:nvSpPr>
        <p:spPr>
          <a:xfrm>
            <a:off x="5029200" y="2529130"/>
            <a:ext cx="110183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Top 15 States by H-1B Applications (Bar Chart)</a:t>
            </a:r>
            <a:endParaRPr lang="en-IN" sz="28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3893299" y="3139578"/>
            <a:ext cx="10935100" cy="5799604"/>
          </a:xfrm>
          <a:prstGeom prst="rect">
            <a:avLst/>
          </a:prstGeom>
        </p:spPr>
      </p:pic>
    </p:spTree>
    <p:extLst>
      <p:ext uri="{BB962C8B-B14F-4D97-AF65-F5344CB8AC3E}">
        <p14:creationId xmlns:p14="http://schemas.microsoft.com/office/powerpoint/2010/main" val="1979644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1077218"/>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Q5. What geographic and temporal patterns can be discerned in H1B wage offers?</a:t>
            </a:r>
            <a:endParaRPr lang="en-IN" sz="3200" dirty="0">
              <a:latin typeface="Times New Roman" panose="02020603050405020304" pitchFamily="18" charset="0"/>
              <a:cs typeface="Times New Roman" panose="02020603050405020304" pitchFamily="18" charset="0"/>
            </a:endParaRPr>
          </a:p>
        </p:txBody>
      </p:sp>
      <p:sp>
        <p:nvSpPr>
          <p:cNvPr id="9" name="Rectangle 8"/>
          <p:cNvSpPr/>
          <p:nvPr/>
        </p:nvSpPr>
        <p:spPr>
          <a:xfrm>
            <a:off x="4267200" y="2529130"/>
            <a:ext cx="117803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Average H-1B Annual Wage Over Years (Line Chart)</a:t>
            </a:r>
            <a:endParaRPr lang="en-IN" sz="28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3169044" y="3062017"/>
            <a:ext cx="11375351" cy="5738190"/>
          </a:xfrm>
          <a:prstGeom prst="rect">
            <a:avLst/>
          </a:prstGeom>
        </p:spPr>
      </p:pic>
    </p:spTree>
    <p:extLst>
      <p:ext uri="{BB962C8B-B14F-4D97-AF65-F5344CB8AC3E}">
        <p14:creationId xmlns:p14="http://schemas.microsoft.com/office/powerpoint/2010/main" val="2591358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1077218"/>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Q5. What geographic and temporal patterns can be discerned in H1B wage offers?</a:t>
            </a:r>
            <a:endParaRPr lang="en-IN" sz="3200" dirty="0">
              <a:latin typeface="Times New Roman" panose="02020603050405020304" pitchFamily="18" charset="0"/>
              <a:cs typeface="Times New Roman" panose="02020603050405020304" pitchFamily="18" charset="0"/>
            </a:endParaRPr>
          </a:p>
        </p:txBody>
      </p:sp>
      <p:sp>
        <p:nvSpPr>
          <p:cNvPr id="9" name="Rectangle 8"/>
          <p:cNvSpPr/>
          <p:nvPr/>
        </p:nvSpPr>
        <p:spPr>
          <a:xfrm>
            <a:off x="4267200" y="2529130"/>
            <a:ext cx="11780399" cy="523220"/>
          </a:xfrm>
          <a:prstGeom prst="rect">
            <a:avLst/>
          </a:prstGeom>
        </p:spPr>
        <p:txBody>
          <a:bodyPr wrap="square">
            <a:spAutoFit/>
          </a:bodyPr>
          <a:lstStyle/>
          <a:p>
            <a:pPr lvl="1"/>
            <a:r>
              <a:rPr lang="en-IN" sz="2800" dirty="0">
                <a:latin typeface="Times New Roman" panose="02020603050405020304" pitchFamily="18" charset="0"/>
                <a:cs typeface="Times New Roman" panose="02020603050405020304" pitchFamily="18" charset="0"/>
              </a:rPr>
              <a:t>Y</a:t>
            </a:r>
            <a:r>
              <a:rPr lang="en-IN" sz="2800" b="1" dirty="0">
                <a:latin typeface="Times New Roman" panose="02020603050405020304" pitchFamily="18" charset="0"/>
                <a:cs typeface="Times New Roman" panose="02020603050405020304" pitchFamily="18" charset="0"/>
              </a:rPr>
              <a:t>early Salary Comparison by Job Title (Line Chart)</a:t>
            </a:r>
            <a:endParaRPr lang="en-IN" sz="28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3654708" y="3102066"/>
            <a:ext cx="10823292" cy="5546634"/>
          </a:xfrm>
          <a:prstGeom prst="rect">
            <a:avLst/>
          </a:prstGeom>
        </p:spPr>
      </p:pic>
    </p:spTree>
    <p:extLst>
      <p:ext uri="{BB962C8B-B14F-4D97-AF65-F5344CB8AC3E}">
        <p14:creationId xmlns:p14="http://schemas.microsoft.com/office/powerpoint/2010/main" val="4079262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1077218"/>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Q5. What geographic and temporal patterns can be discerned in H1B wage offers?</a:t>
            </a:r>
            <a:endParaRPr lang="en-IN" sz="3200" dirty="0">
              <a:latin typeface="Times New Roman" panose="02020603050405020304" pitchFamily="18" charset="0"/>
              <a:cs typeface="Times New Roman" panose="02020603050405020304" pitchFamily="18" charset="0"/>
            </a:endParaRPr>
          </a:p>
        </p:txBody>
      </p:sp>
      <p:sp>
        <p:nvSpPr>
          <p:cNvPr id="9" name="Rectangle 8"/>
          <p:cNvSpPr/>
          <p:nvPr/>
        </p:nvSpPr>
        <p:spPr>
          <a:xfrm>
            <a:off x="4267200" y="2529130"/>
            <a:ext cx="11780399" cy="523220"/>
          </a:xfrm>
          <a:prstGeom prst="rect">
            <a:avLst/>
          </a:prstGeom>
        </p:spPr>
        <p:txBody>
          <a:bodyPr wrap="square">
            <a:spAutoFit/>
          </a:bodyPr>
          <a:lstStyle/>
          <a:p>
            <a:pPr lvl="1"/>
            <a:r>
              <a:rPr lang="en-IN" sz="2800" b="1" dirty="0">
                <a:latin typeface="Times New Roman" panose="02020603050405020304" pitchFamily="18" charset="0"/>
                <a:cs typeface="Times New Roman" panose="02020603050405020304" pitchFamily="18" charset="0"/>
              </a:rPr>
              <a:t>Annual Wage Distribution (Histogram with KDE)</a:t>
            </a:r>
            <a:endParaRPr lang="en-IN" sz="28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3581400" y="3197011"/>
            <a:ext cx="10989820" cy="5472082"/>
          </a:xfrm>
          <a:prstGeom prst="rect">
            <a:avLst/>
          </a:prstGeom>
        </p:spPr>
      </p:pic>
    </p:spTree>
    <p:extLst>
      <p:ext uri="{BB962C8B-B14F-4D97-AF65-F5344CB8AC3E}">
        <p14:creationId xmlns:p14="http://schemas.microsoft.com/office/powerpoint/2010/main" val="1277253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584775"/>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Q6. Does the involvement of legal representation influence wage levels? </a:t>
            </a:r>
            <a:endParaRPr lang="en-IN" sz="3200" dirty="0">
              <a:latin typeface="Times New Roman" panose="02020603050405020304" pitchFamily="18" charset="0"/>
              <a:cs typeface="Times New Roman" panose="02020603050405020304" pitchFamily="18" charset="0"/>
            </a:endParaRPr>
          </a:p>
        </p:txBody>
      </p:sp>
      <p:sp>
        <p:nvSpPr>
          <p:cNvPr id="9" name="Rectangle 8"/>
          <p:cNvSpPr/>
          <p:nvPr/>
        </p:nvSpPr>
        <p:spPr>
          <a:xfrm>
            <a:off x="3814443" y="2440713"/>
            <a:ext cx="1178039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Violin Plot – Annual Wages With vs. Without Legal Representation</a:t>
            </a:r>
            <a:endParaRPr lang="en-IN" sz="36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3429000" y="3162300"/>
            <a:ext cx="11049000" cy="5776882"/>
          </a:xfrm>
          <a:prstGeom prst="rect">
            <a:avLst/>
          </a:prstGeom>
        </p:spPr>
      </p:pic>
    </p:spTree>
    <p:extLst>
      <p:ext uri="{BB962C8B-B14F-4D97-AF65-F5344CB8AC3E}">
        <p14:creationId xmlns:p14="http://schemas.microsoft.com/office/powerpoint/2010/main" val="2108730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468375"/>
            <a:ext cx="331657" cy="818838"/>
            <a:chOff x="0" y="0"/>
            <a:chExt cx="87350" cy="215661"/>
          </a:xfrm>
        </p:grpSpPr>
        <p:sp>
          <p:nvSpPr>
            <p:cNvPr id="3" name="Freeform 3"/>
            <p:cNvSpPr/>
            <p:nvPr/>
          </p:nvSpPr>
          <p:spPr>
            <a:xfrm>
              <a:off x="0" y="0"/>
              <a:ext cx="87350" cy="215661"/>
            </a:xfrm>
            <a:custGeom>
              <a:avLst/>
              <a:gdLst/>
              <a:ahLst/>
              <a:cxnLst/>
              <a:rect l="l" t="t" r="r" b="b"/>
              <a:pathLst>
                <a:path w="87350" h="215661">
                  <a:moveTo>
                    <a:pt x="0" y="0"/>
                  </a:moveTo>
                  <a:lnTo>
                    <a:pt x="87350" y="0"/>
                  </a:lnTo>
                  <a:lnTo>
                    <a:pt x="87350" y="215661"/>
                  </a:lnTo>
                  <a:lnTo>
                    <a:pt x="0" y="215661"/>
                  </a:lnTo>
                  <a:close/>
                </a:path>
              </a:pathLst>
            </a:custGeom>
            <a:solidFill>
              <a:srgbClr val="990201"/>
            </a:solidFill>
          </p:spPr>
          <p:txBody>
            <a:bodyPr/>
            <a:lstStyle/>
            <a:p>
              <a:endParaRPr lang="en-US"/>
            </a:p>
          </p:txBody>
        </p:sp>
        <p:sp>
          <p:nvSpPr>
            <p:cNvPr id="4" name="TextBox 4"/>
            <p:cNvSpPr txBox="1"/>
            <p:nvPr/>
          </p:nvSpPr>
          <p:spPr>
            <a:xfrm>
              <a:off x="0" y="-38100"/>
              <a:ext cx="87350" cy="25376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258300"/>
            <a:ext cx="19388840" cy="2199694"/>
            <a:chOff x="0" y="0"/>
            <a:chExt cx="5106526" cy="579343"/>
          </a:xfrm>
        </p:grpSpPr>
        <p:sp>
          <p:nvSpPr>
            <p:cNvPr id="6" name="Freeform 6"/>
            <p:cNvSpPr/>
            <p:nvPr/>
          </p:nvSpPr>
          <p:spPr>
            <a:xfrm>
              <a:off x="0" y="0"/>
              <a:ext cx="5106526" cy="579343"/>
            </a:xfrm>
            <a:custGeom>
              <a:avLst/>
              <a:gdLst/>
              <a:ahLst/>
              <a:cxnLst/>
              <a:rect l="l" t="t" r="r" b="b"/>
              <a:pathLst>
                <a:path w="5106526" h="579343">
                  <a:moveTo>
                    <a:pt x="0" y="0"/>
                  </a:moveTo>
                  <a:lnTo>
                    <a:pt x="5106526" y="0"/>
                  </a:lnTo>
                  <a:lnTo>
                    <a:pt x="5106526" y="579343"/>
                  </a:lnTo>
                  <a:lnTo>
                    <a:pt x="0" y="579343"/>
                  </a:lnTo>
                  <a:close/>
                </a:path>
              </a:pathLst>
            </a:custGeom>
            <a:solidFill>
              <a:srgbClr val="990201"/>
            </a:solidFill>
          </p:spPr>
          <p:txBody>
            <a:bodyPr/>
            <a:lstStyle/>
            <a:p>
              <a:endParaRPr lang="en-US"/>
            </a:p>
          </p:txBody>
        </p:sp>
        <p:sp>
          <p:nvSpPr>
            <p:cNvPr id="7" name="TextBox 7"/>
            <p:cNvSpPr txBox="1"/>
            <p:nvPr/>
          </p:nvSpPr>
          <p:spPr>
            <a:xfrm>
              <a:off x="0" y="-38100"/>
              <a:ext cx="5106526" cy="61744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1578003" y="392175"/>
            <a:ext cx="7278717" cy="720581"/>
          </a:xfrm>
          <a:prstGeom prst="rect">
            <a:avLst/>
          </a:prstGeom>
        </p:spPr>
        <p:txBody>
          <a:bodyPr lIns="0" tIns="0" rIns="0" bIns="0" rtlCol="0" anchor="t">
            <a:spAutoFit/>
          </a:bodyPr>
          <a:lstStyle/>
          <a:p>
            <a:pPr algn="just">
              <a:lnSpc>
                <a:spcPts val="5957"/>
              </a:lnSpc>
              <a:spcBef>
                <a:spcPct val="0"/>
              </a:spcBef>
            </a:pPr>
            <a:r>
              <a:rPr lang="en-US" sz="4255" b="1" dirty="0">
                <a:solidFill>
                  <a:srgbClr val="000000"/>
                </a:solidFill>
                <a:latin typeface="Canva Sans Bold"/>
                <a:ea typeface="Canva Sans Bold"/>
                <a:cs typeface="Canva Sans Bold"/>
                <a:sym typeface="Canva Sans Bold"/>
              </a:rPr>
              <a:t>Visualizations</a:t>
            </a:r>
          </a:p>
        </p:txBody>
      </p:sp>
      <p:sp>
        <p:nvSpPr>
          <p:cNvPr id="12" name="TextBox 11">
            <a:extLst>
              <a:ext uri="{FF2B5EF4-FFF2-40B4-BE49-F238E27FC236}">
                <a16:creationId xmlns:a16="http://schemas.microsoft.com/office/drawing/2014/main" id="{3ABC4FC0-2EBA-BDCC-F2CB-B5908DC41C49}"/>
              </a:ext>
            </a:extLst>
          </p:cNvPr>
          <p:cNvSpPr txBox="1"/>
          <p:nvPr/>
        </p:nvSpPr>
        <p:spPr>
          <a:xfrm>
            <a:off x="1578003" y="1184368"/>
            <a:ext cx="14042997" cy="584775"/>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Q6. Does the involvement of legal representation influence wage levels? </a:t>
            </a:r>
            <a:endParaRPr lang="en-IN" sz="3200" dirty="0">
              <a:latin typeface="Times New Roman" panose="02020603050405020304" pitchFamily="18" charset="0"/>
              <a:cs typeface="Times New Roman" panose="02020603050405020304" pitchFamily="18" charset="0"/>
            </a:endParaRPr>
          </a:p>
        </p:txBody>
      </p:sp>
      <p:sp>
        <p:nvSpPr>
          <p:cNvPr id="9" name="Rectangle 8"/>
          <p:cNvSpPr/>
          <p:nvPr/>
        </p:nvSpPr>
        <p:spPr>
          <a:xfrm>
            <a:off x="3814443" y="2440713"/>
            <a:ext cx="11780399" cy="461665"/>
          </a:xfrm>
          <a:prstGeom prst="rect">
            <a:avLst/>
          </a:prstGeom>
        </p:spPr>
        <p:txBody>
          <a:bodyPr wrap="square">
            <a:spAutoFit/>
          </a:bodyPr>
          <a:lstStyle/>
          <a:p>
            <a:pPr lvl="1"/>
            <a:r>
              <a:rPr lang="en-IN" sz="2400" b="1" dirty="0">
                <a:latin typeface="Times New Roman" panose="02020603050405020304" pitchFamily="18" charset="0"/>
                <a:cs typeface="Times New Roman" panose="02020603050405020304" pitchFamily="18" charset="0"/>
              </a:rPr>
              <a:t>Mean vs. Median Wage by Legal Representation (Grouped Bar Chart)</a:t>
            </a:r>
            <a:endParaRPr lang="en-IN" sz="2400" dirty="0">
              <a:latin typeface="Times New Roman" panose="02020603050405020304" pitchFamily="18" charset="0"/>
              <a:cs typeface="Times New Roman" panose="02020603050405020304" pitchFamily="18" charset="0"/>
            </a:endParaRPr>
          </a:p>
        </p:txBody>
      </p:sp>
      <p:pic>
        <p:nvPicPr>
          <p:cNvPr id="14" name="Picture 13"/>
          <p:cNvPicPr/>
          <p:nvPr/>
        </p:nvPicPr>
        <p:blipFill>
          <a:blip r:embed="rId3"/>
          <a:stretch>
            <a:fillRect/>
          </a:stretch>
        </p:blipFill>
        <p:spPr>
          <a:xfrm>
            <a:off x="3318775" y="3002705"/>
            <a:ext cx="11075889" cy="6087619"/>
          </a:xfrm>
          <a:prstGeom prst="rect">
            <a:avLst/>
          </a:prstGeom>
        </p:spPr>
      </p:pic>
    </p:spTree>
    <p:extLst>
      <p:ext uri="{BB962C8B-B14F-4D97-AF65-F5344CB8AC3E}">
        <p14:creationId xmlns:p14="http://schemas.microsoft.com/office/powerpoint/2010/main" val="2091016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sp>
        <p:nvSpPr>
          <p:cNvPr id="2" name="TextBox 2"/>
          <p:cNvSpPr txBox="1"/>
          <p:nvPr/>
        </p:nvSpPr>
        <p:spPr>
          <a:xfrm>
            <a:off x="1028700" y="603096"/>
            <a:ext cx="15147385" cy="1136396"/>
          </a:xfrm>
          <a:prstGeom prst="rect">
            <a:avLst/>
          </a:prstGeom>
        </p:spPr>
        <p:txBody>
          <a:bodyPr lIns="0" tIns="0" rIns="0" bIns="0" rtlCol="0" anchor="t">
            <a:spAutoFit/>
          </a:bodyPr>
          <a:lstStyle/>
          <a:p>
            <a:pPr algn="just">
              <a:lnSpc>
                <a:spcPts val="5473"/>
              </a:lnSpc>
              <a:spcBef>
                <a:spcPct val="0"/>
              </a:spcBef>
            </a:pPr>
            <a:r>
              <a:rPr lang="en-US" sz="3909" b="1">
                <a:solidFill>
                  <a:srgbClr val="000000"/>
                </a:solidFill>
                <a:latin typeface="Canva Sans Bold"/>
                <a:ea typeface="Canva Sans Bold"/>
                <a:cs typeface="Canva Sans Bold"/>
                <a:sym typeface="Canva Sans Bold"/>
              </a:rPr>
              <a:t>References</a:t>
            </a:r>
          </a:p>
          <a:p>
            <a:pPr algn="just">
              <a:lnSpc>
                <a:spcPts val="3653"/>
              </a:lnSpc>
              <a:spcBef>
                <a:spcPct val="0"/>
              </a:spcBef>
            </a:pPr>
            <a:endParaRPr lang="en-US" sz="3909" b="1">
              <a:solidFill>
                <a:srgbClr val="000000"/>
              </a:solidFill>
              <a:latin typeface="Canva Sans Bold"/>
              <a:ea typeface="Canva Sans Bold"/>
              <a:cs typeface="Canva Sans Bold"/>
              <a:sym typeface="Canva Sans Bold"/>
            </a:endParaRPr>
          </a:p>
        </p:txBody>
      </p:sp>
      <p:grpSp>
        <p:nvGrpSpPr>
          <p:cNvPr id="3" name="Group 3"/>
          <p:cNvGrpSpPr/>
          <p:nvPr/>
        </p:nvGrpSpPr>
        <p:grpSpPr>
          <a:xfrm>
            <a:off x="0" y="679296"/>
            <a:ext cx="331657" cy="837575"/>
            <a:chOff x="0" y="0"/>
            <a:chExt cx="87350" cy="220596"/>
          </a:xfrm>
        </p:grpSpPr>
        <p:sp>
          <p:nvSpPr>
            <p:cNvPr id="4" name="Freeform 4"/>
            <p:cNvSpPr/>
            <p:nvPr/>
          </p:nvSpPr>
          <p:spPr>
            <a:xfrm>
              <a:off x="0" y="0"/>
              <a:ext cx="87350" cy="220596"/>
            </a:xfrm>
            <a:custGeom>
              <a:avLst/>
              <a:gdLst/>
              <a:ahLst/>
              <a:cxnLst/>
              <a:rect l="l" t="t" r="r" b="b"/>
              <a:pathLst>
                <a:path w="87350" h="220596">
                  <a:moveTo>
                    <a:pt x="0" y="0"/>
                  </a:moveTo>
                  <a:lnTo>
                    <a:pt x="87350" y="0"/>
                  </a:lnTo>
                  <a:lnTo>
                    <a:pt x="87350" y="220596"/>
                  </a:lnTo>
                  <a:lnTo>
                    <a:pt x="0" y="220596"/>
                  </a:lnTo>
                  <a:close/>
                </a:path>
              </a:pathLst>
            </a:custGeom>
            <a:solidFill>
              <a:srgbClr val="990201"/>
            </a:solidFill>
          </p:spPr>
          <p:txBody>
            <a:bodyPr/>
            <a:lstStyle/>
            <a:p>
              <a:endParaRPr lang="en-US"/>
            </a:p>
          </p:txBody>
        </p:sp>
        <p:sp>
          <p:nvSpPr>
            <p:cNvPr id="5" name="TextBox 5"/>
            <p:cNvSpPr txBox="1"/>
            <p:nvPr/>
          </p:nvSpPr>
          <p:spPr>
            <a:xfrm>
              <a:off x="0" y="-38100"/>
              <a:ext cx="87350" cy="258696"/>
            </a:xfrm>
            <a:prstGeom prst="rect">
              <a:avLst/>
            </a:prstGeom>
          </p:spPr>
          <p:txBody>
            <a:bodyPr lIns="50800" tIns="50800" rIns="50800" bIns="50800" rtlCol="0" anchor="ctr"/>
            <a:lstStyle/>
            <a:p>
              <a:pPr algn="ctr">
                <a:lnSpc>
                  <a:spcPts val="3359"/>
                </a:lnSpc>
              </a:pPr>
              <a:endParaRPr/>
            </a:p>
          </p:txBody>
        </p:sp>
      </p:grpSp>
      <p:grpSp>
        <p:nvGrpSpPr>
          <p:cNvPr id="6" name="Group 6"/>
          <p:cNvGrpSpPr/>
          <p:nvPr/>
        </p:nvGrpSpPr>
        <p:grpSpPr>
          <a:xfrm>
            <a:off x="-1100840" y="9408202"/>
            <a:ext cx="19388840" cy="2049792"/>
            <a:chOff x="0" y="0"/>
            <a:chExt cx="5106526" cy="539863"/>
          </a:xfrm>
        </p:grpSpPr>
        <p:sp>
          <p:nvSpPr>
            <p:cNvPr id="7" name="Freeform 7"/>
            <p:cNvSpPr/>
            <p:nvPr/>
          </p:nvSpPr>
          <p:spPr>
            <a:xfrm>
              <a:off x="0" y="0"/>
              <a:ext cx="5106526" cy="539863"/>
            </a:xfrm>
            <a:custGeom>
              <a:avLst/>
              <a:gdLst/>
              <a:ahLst/>
              <a:cxnLst/>
              <a:rect l="l" t="t" r="r" b="b"/>
              <a:pathLst>
                <a:path w="5106526" h="539863">
                  <a:moveTo>
                    <a:pt x="0" y="0"/>
                  </a:moveTo>
                  <a:lnTo>
                    <a:pt x="5106526" y="0"/>
                  </a:lnTo>
                  <a:lnTo>
                    <a:pt x="5106526" y="539863"/>
                  </a:lnTo>
                  <a:lnTo>
                    <a:pt x="0" y="539863"/>
                  </a:lnTo>
                  <a:close/>
                </a:path>
              </a:pathLst>
            </a:custGeom>
            <a:solidFill>
              <a:srgbClr val="990201"/>
            </a:solidFill>
          </p:spPr>
          <p:txBody>
            <a:bodyPr/>
            <a:lstStyle/>
            <a:p>
              <a:endParaRPr lang="en-US"/>
            </a:p>
          </p:txBody>
        </p:sp>
        <p:sp>
          <p:nvSpPr>
            <p:cNvPr id="8" name="TextBox 8"/>
            <p:cNvSpPr txBox="1"/>
            <p:nvPr/>
          </p:nvSpPr>
          <p:spPr>
            <a:xfrm>
              <a:off x="0" y="-38100"/>
              <a:ext cx="5106526" cy="577963"/>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p:cNvSpPr txBox="1"/>
          <p:nvPr/>
        </p:nvSpPr>
        <p:spPr>
          <a:xfrm>
            <a:off x="915017" y="2030257"/>
            <a:ext cx="16771503" cy="6738320"/>
          </a:xfrm>
          <a:prstGeom prst="rect">
            <a:avLst/>
          </a:prstGeom>
        </p:spPr>
        <p:txBody>
          <a:bodyPr wrap="square" lIns="0" tIns="0" rIns="0" bIns="0" rtlCol="0" anchor="t">
            <a:spAutoFit/>
          </a:bodyPr>
          <a:lstStyle/>
          <a:p>
            <a:pPr marL="474979" lvl="1" indent="-237490">
              <a:lnSpc>
                <a:spcPts val="3079"/>
              </a:lnSpc>
              <a:buFont typeface="Arial"/>
              <a:buChar char="•"/>
            </a:pPr>
            <a:r>
              <a:rPr lang="en-US" sz="2400" dirty="0">
                <a:solidFill>
                  <a:srgbClr val="000000"/>
                </a:solidFill>
                <a:latin typeface="Canva Sans"/>
                <a:ea typeface="Canva Sans"/>
                <a:cs typeface="Canva Sans"/>
                <a:sym typeface="Canva Sans"/>
              </a:rPr>
              <a:t>Yearbook of Immigration Statistics: </a:t>
            </a:r>
            <a:r>
              <a:rPr lang="en-US" sz="2400" u="sng" dirty="0">
                <a:solidFill>
                  <a:srgbClr val="000000"/>
                </a:solidFill>
                <a:latin typeface="Canva Sans"/>
                <a:ea typeface="Canva Sans"/>
                <a:cs typeface="Canva Sans"/>
                <a:sym typeface="Canva Sans"/>
                <a:hlinkClick r:id="rId3" tooltip="https://ohss.dhs.gov/topics/immigration/yearbook"/>
              </a:rPr>
              <a:t>https://ohss.dhs.gov/topics/immigration/yearbook</a:t>
            </a:r>
          </a:p>
          <a:p>
            <a:pPr>
              <a:lnSpc>
                <a:spcPts val="3079"/>
              </a:lnSpc>
            </a:pPr>
            <a:endParaRPr lang="en-US" sz="2400" u="sng" dirty="0">
              <a:solidFill>
                <a:srgbClr val="000000"/>
              </a:solidFill>
              <a:latin typeface="Canva Sans"/>
              <a:ea typeface="Canva Sans"/>
              <a:cs typeface="Canva Sans"/>
              <a:sym typeface="Canva Sans"/>
              <a:hlinkClick r:id="rId3" tooltip="https://ohss.dhs.gov/topics/immigration/yearbook"/>
            </a:endParaRPr>
          </a:p>
          <a:p>
            <a:pPr marL="474979" lvl="1" indent="-237490">
              <a:lnSpc>
                <a:spcPts val="3079"/>
              </a:lnSpc>
              <a:buFont typeface="Arial"/>
              <a:buChar char="•"/>
            </a:pPr>
            <a:r>
              <a:rPr lang="en-US" sz="2400" dirty="0">
                <a:solidFill>
                  <a:srgbClr val="000000"/>
                </a:solidFill>
                <a:latin typeface="Canva Sans"/>
                <a:ea typeface="Canva Sans"/>
                <a:cs typeface="Canva Sans"/>
                <a:sym typeface="Canva Sans"/>
              </a:rPr>
              <a:t>USCIS H-1B Trend Data (2007-2017): </a:t>
            </a:r>
            <a:r>
              <a:rPr lang="en-US" sz="2400" u="sng" dirty="0">
                <a:solidFill>
                  <a:srgbClr val="000000"/>
                </a:solidFill>
                <a:latin typeface="Canva Sans"/>
                <a:ea typeface="Canva Sans"/>
                <a:cs typeface="Canva Sans"/>
                <a:sym typeface="Canva Sans"/>
                <a:hlinkClick r:id="rId4" tooltip="https://www.uscis.gov/sites/default/files/document/data/h-1b-2007-2017-trend-tables.pdf"/>
              </a:rPr>
              <a:t>https://www.uscis.gov/sites/default/files/document/data/h-1b-2007-2017-trend-tables.pdf</a:t>
            </a:r>
          </a:p>
          <a:p>
            <a:pPr>
              <a:lnSpc>
                <a:spcPts val="3079"/>
              </a:lnSpc>
            </a:pPr>
            <a:endParaRPr lang="en-US" sz="2400" u="sng" dirty="0">
              <a:solidFill>
                <a:srgbClr val="000000"/>
              </a:solidFill>
              <a:latin typeface="Canva Sans"/>
              <a:ea typeface="Canva Sans"/>
              <a:cs typeface="Canva Sans"/>
              <a:sym typeface="Canva Sans"/>
              <a:hlinkClick r:id="rId4" tooltip="https://www.uscis.gov/sites/default/files/document/data/h-1b-2007-2017-trend-tables.pdf"/>
            </a:endParaRPr>
          </a:p>
          <a:p>
            <a:pPr marL="474979" lvl="1" indent="-237490">
              <a:lnSpc>
                <a:spcPts val="3079"/>
              </a:lnSpc>
              <a:buFont typeface="Arial"/>
              <a:buChar char="•"/>
            </a:pPr>
            <a:r>
              <a:rPr lang="en-US" sz="2400" dirty="0">
                <a:solidFill>
                  <a:srgbClr val="000000"/>
                </a:solidFill>
                <a:latin typeface="Canva Sans"/>
                <a:ea typeface="Canva Sans"/>
                <a:cs typeface="Canva Sans"/>
                <a:sym typeface="Canva Sans"/>
              </a:rPr>
              <a:t>H-1B Visa Cap Reach Dates History: </a:t>
            </a:r>
            <a:r>
              <a:rPr lang="en-US" sz="2400" u="sng" dirty="0">
                <a:solidFill>
                  <a:srgbClr val="000000"/>
                </a:solidFill>
                <a:latin typeface="Canva Sans"/>
                <a:ea typeface="Canva Sans"/>
                <a:cs typeface="Canva Sans"/>
                <a:sym typeface="Canva Sans"/>
                <a:hlinkClick r:id="rId5" tooltip="https://redbus2us.com/h1b-visa-cap-reach-dates-history-graphs-uscis-data/"/>
              </a:rPr>
              <a:t>https://redbus2us.com/h1b-visa-cap-reach-dates-history-graphs-uscis-data/</a:t>
            </a:r>
          </a:p>
          <a:p>
            <a:pPr>
              <a:lnSpc>
                <a:spcPts val="3079"/>
              </a:lnSpc>
            </a:pPr>
            <a:endParaRPr lang="en-US" sz="2400" u="sng" dirty="0">
              <a:solidFill>
                <a:srgbClr val="000000"/>
              </a:solidFill>
              <a:latin typeface="Canva Sans"/>
              <a:ea typeface="Canva Sans"/>
              <a:cs typeface="Canva Sans"/>
              <a:sym typeface="Canva Sans"/>
              <a:hlinkClick r:id="rId5" tooltip="https://redbus2us.com/h1b-visa-cap-reach-dates-history-graphs-uscis-data/"/>
            </a:endParaRPr>
          </a:p>
          <a:p>
            <a:pPr marL="474979" lvl="1" indent="-237490">
              <a:lnSpc>
                <a:spcPts val="3079"/>
              </a:lnSpc>
              <a:buFont typeface="Arial"/>
              <a:buChar char="•"/>
            </a:pPr>
            <a:r>
              <a:rPr lang="en-US" sz="2400" dirty="0">
                <a:solidFill>
                  <a:srgbClr val="000000"/>
                </a:solidFill>
                <a:latin typeface="Canva Sans"/>
                <a:ea typeface="Canva Sans"/>
                <a:cs typeface="Canva Sans"/>
                <a:sym typeface="Canva Sans"/>
              </a:rPr>
              <a:t>Pew Research Center: </a:t>
            </a:r>
            <a:r>
              <a:rPr lang="en-US" sz="2400" u="sng" dirty="0">
                <a:solidFill>
                  <a:srgbClr val="000000"/>
                </a:solidFill>
                <a:latin typeface="Canva Sans"/>
                <a:ea typeface="Canva Sans"/>
                <a:cs typeface="Canva Sans"/>
                <a:sym typeface="Canva Sans"/>
                <a:hlinkClick r:id="rId6" tooltip="https://www.pewresearch.org/short-reads/2024/09/27/key-findings-about-us-immigrants/"/>
              </a:rPr>
              <a:t>https://www.pewresearch.org/short-reads/2024/09/27/key-findings-about-us-immigrants/</a:t>
            </a:r>
          </a:p>
          <a:p>
            <a:pPr>
              <a:lnSpc>
                <a:spcPts val="3079"/>
              </a:lnSpc>
            </a:pPr>
            <a:endParaRPr lang="en-US" sz="2400" u="sng" dirty="0">
              <a:solidFill>
                <a:srgbClr val="000000"/>
              </a:solidFill>
              <a:latin typeface="Canva Sans"/>
              <a:ea typeface="Canva Sans"/>
              <a:cs typeface="Canva Sans"/>
              <a:sym typeface="Canva Sans"/>
              <a:hlinkClick r:id="rId6" tooltip="https://www.pewresearch.org/short-reads/2024/09/27/key-findings-about-us-immigrants/"/>
            </a:endParaRPr>
          </a:p>
          <a:p>
            <a:pPr marL="474979" lvl="1" indent="-237490">
              <a:lnSpc>
                <a:spcPts val="3079"/>
              </a:lnSpc>
              <a:buFont typeface="Arial"/>
              <a:buChar char="•"/>
            </a:pPr>
            <a:r>
              <a:rPr lang="en-US" sz="2400" dirty="0">
                <a:solidFill>
                  <a:srgbClr val="000000"/>
                </a:solidFill>
                <a:latin typeface="Canva Sans"/>
                <a:ea typeface="Canva Sans"/>
                <a:cs typeface="Canva Sans"/>
                <a:sym typeface="Canva Sans"/>
              </a:rPr>
              <a:t>Migration Policy Institute: </a:t>
            </a:r>
            <a:r>
              <a:rPr lang="en-US" sz="2400" u="sng" dirty="0">
                <a:solidFill>
                  <a:srgbClr val="000000"/>
                </a:solidFill>
                <a:latin typeface="Canva Sans"/>
                <a:ea typeface="Canva Sans"/>
                <a:cs typeface="Canva Sans"/>
                <a:sym typeface="Canva Sans"/>
                <a:hlinkClick r:id="rId7" tooltip="https://www.migrationpolicy.org/programs/data-hub/charts/immigrant-population-over-time"/>
              </a:rPr>
              <a:t>https://www.migrationpolicy.org/programs/data-hub/charts/immigrant-population-over-time</a:t>
            </a:r>
          </a:p>
          <a:p>
            <a:pPr marL="474979" lvl="1" indent="-237490">
              <a:lnSpc>
                <a:spcPts val="3079"/>
              </a:lnSpc>
              <a:buFont typeface="Arial"/>
              <a:buChar char="•"/>
            </a:pPr>
            <a:endParaRPr lang="en-US" sz="2400" u="sng" dirty="0">
              <a:solidFill>
                <a:srgbClr val="000000"/>
              </a:solidFill>
              <a:latin typeface="Canva Sans"/>
              <a:ea typeface="Canva Sans"/>
              <a:cs typeface="Canva Sans"/>
              <a:sym typeface="Canva Sans"/>
              <a:hlinkClick r:id="rId7" tooltip="https://www.migrationpolicy.org/programs/data-hub/charts/immigrant-population-over-time"/>
            </a:endParaRPr>
          </a:p>
          <a:p>
            <a:pPr marL="474979" lvl="1" indent="-237490">
              <a:lnSpc>
                <a:spcPts val="3079"/>
              </a:lnSpc>
              <a:buFont typeface="Arial"/>
              <a:buChar char="•"/>
            </a:pPr>
            <a:r>
              <a:rPr lang="en-US" sz="2400" dirty="0">
                <a:effectLst/>
                <a:ea typeface="Times New Roman" panose="02020603050405020304" pitchFamily="18" charset="0"/>
                <a:cs typeface="Times New Roman" panose="02020603050405020304" pitchFamily="18" charset="0"/>
              </a:rPr>
              <a:t>American Immigration Council. (2024) </a:t>
            </a:r>
            <a:r>
              <a:rPr lang="en-US" sz="2400" u="sng" dirty="0">
                <a:solidFill>
                  <a:srgbClr val="0563C1"/>
                </a:solidFill>
                <a:effectLst/>
                <a:ea typeface="Times New Roman" panose="02020603050405020304" pitchFamily="18" charset="0"/>
                <a:cs typeface="Times New Roman" panose="02020603050405020304" pitchFamily="18" charset="0"/>
                <a:hlinkClick r:id="rId8"/>
              </a:rPr>
              <a:t>https://www.americanimmigrationcouncil.org/research/h1b-visa-program-fact-sheet</a:t>
            </a:r>
            <a:endParaRPr lang="en-GB" sz="2400" dirty="0">
              <a:effectLst/>
              <a:ea typeface="Calibri" panose="020F0502020204030204" pitchFamily="34" charset="0"/>
              <a:cs typeface="Times New Roman" panose="02020603050405020304" pitchFamily="18" charset="0"/>
            </a:endParaRPr>
          </a:p>
          <a:p>
            <a:pPr marL="474979" lvl="1" indent="-237490">
              <a:lnSpc>
                <a:spcPts val="3079"/>
              </a:lnSpc>
              <a:buFont typeface="Arial"/>
              <a:buChar char="•"/>
            </a:pPr>
            <a:endParaRPr lang="en-US" sz="2400" u="sng" dirty="0">
              <a:solidFill>
                <a:srgbClr val="000000"/>
              </a:solidFill>
              <a:latin typeface="Canva Sans"/>
              <a:ea typeface="Canva Sans"/>
              <a:cs typeface="Canva Sans"/>
              <a:sym typeface="Canva Sans"/>
              <a:hlinkClick r:id="rId7" tooltip="https://www.migrationpolicy.org/programs/data-hub/charts/immigrant-population-over-time"/>
            </a:endParaRPr>
          </a:p>
          <a:p>
            <a:pPr>
              <a:lnSpc>
                <a:spcPts val="3079"/>
              </a:lnSpc>
              <a:spcBef>
                <a:spcPct val="0"/>
              </a:spcBef>
            </a:pPr>
            <a:endParaRPr lang="en-US" sz="2400" u="sng" dirty="0">
              <a:solidFill>
                <a:srgbClr val="000000"/>
              </a:solidFill>
              <a:latin typeface="Canva Sans"/>
              <a:ea typeface="Canva Sans"/>
              <a:cs typeface="Canva Sans"/>
              <a:sym typeface="Canva Sans"/>
              <a:hlinkClick r:id="rId7" tooltip="https://www.migrationpolicy.org/programs/data-hub/charts/immigrant-population-over-tim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a:extLst>
            <a:ext uri="{FF2B5EF4-FFF2-40B4-BE49-F238E27FC236}">
              <a16:creationId xmlns:a16="http://schemas.microsoft.com/office/drawing/2014/main" id="{D283AF2B-0369-8C1D-5041-78B2B0E67C6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CB2E3C9-FD5E-6E20-06E1-7AF781070F73}"/>
              </a:ext>
            </a:extLst>
          </p:cNvPr>
          <p:cNvSpPr txBox="1"/>
          <p:nvPr/>
        </p:nvSpPr>
        <p:spPr>
          <a:xfrm>
            <a:off x="1028700" y="603096"/>
            <a:ext cx="15147385" cy="1136396"/>
          </a:xfrm>
          <a:prstGeom prst="rect">
            <a:avLst/>
          </a:prstGeom>
        </p:spPr>
        <p:txBody>
          <a:bodyPr lIns="0" tIns="0" rIns="0" bIns="0" rtlCol="0" anchor="t">
            <a:spAutoFit/>
          </a:bodyPr>
          <a:lstStyle/>
          <a:p>
            <a:pPr algn="just">
              <a:lnSpc>
                <a:spcPts val="5473"/>
              </a:lnSpc>
              <a:spcBef>
                <a:spcPct val="0"/>
              </a:spcBef>
            </a:pPr>
            <a:r>
              <a:rPr lang="en-US" sz="3909" b="1" dirty="0">
                <a:solidFill>
                  <a:srgbClr val="000000"/>
                </a:solidFill>
                <a:latin typeface="Canva Sans Bold"/>
                <a:ea typeface="Canva Sans Bold"/>
                <a:cs typeface="Canva Sans Bold"/>
                <a:sym typeface="Canva Sans Bold"/>
              </a:rPr>
              <a:t>References</a:t>
            </a:r>
          </a:p>
          <a:p>
            <a:pPr algn="just">
              <a:lnSpc>
                <a:spcPts val="3653"/>
              </a:lnSpc>
              <a:spcBef>
                <a:spcPct val="0"/>
              </a:spcBef>
            </a:pPr>
            <a:endParaRPr lang="en-US" sz="3909" b="1" dirty="0">
              <a:solidFill>
                <a:srgbClr val="000000"/>
              </a:solidFill>
              <a:latin typeface="Canva Sans Bold"/>
              <a:ea typeface="Canva Sans Bold"/>
              <a:cs typeface="Canva Sans Bold"/>
              <a:sym typeface="Canva Sans Bold"/>
            </a:endParaRPr>
          </a:p>
        </p:txBody>
      </p:sp>
      <p:grpSp>
        <p:nvGrpSpPr>
          <p:cNvPr id="3" name="Group 3">
            <a:extLst>
              <a:ext uri="{FF2B5EF4-FFF2-40B4-BE49-F238E27FC236}">
                <a16:creationId xmlns:a16="http://schemas.microsoft.com/office/drawing/2014/main" id="{E8B4C2B0-3E7C-136E-2851-A791A9EC556E}"/>
              </a:ext>
            </a:extLst>
          </p:cNvPr>
          <p:cNvGrpSpPr/>
          <p:nvPr/>
        </p:nvGrpSpPr>
        <p:grpSpPr>
          <a:xfrm>
            <a:off x="0" y="679296"/>
            <a:ext cx="331657" cy="837575"/>
            <a:chOff x="0" y="0"/>
            <a:chExt cx="87350" cy="220596"/>
          </a:xfrm>
        </p:grpSpPr>
        <p:sp>
          <p:nvSpPr>
            <p:cNvPr id="4" name="Freeform 4">
              <a:extLst>
                <a:ext uri="{FF2B5EF4-FFF2-40B4-BE49-F238E27FC236}">
                  <a16:creationId xmlns:a16="http://schemas.microsoft.com/office/drawing/2014/main" id="{C6A7235E-874C-B127-C977-A73AA7F51158}"/>
                </a:ext>
              </a:extLst>
            </p:cNvPr>
            <p:cNvSpPr/>
            <p:nvPr/>
          </p:nvSpPr>
          <p:spPr>
            <a:xfrm>
              <a:off x="0" y="0"/>
              <a:ext cx="87350" cy="220596"/>
            </a:xfrm>
            <a:custGeom>
              <a:avLst/>
              <a:gdLst/>
              <a:ahLst/>
              <a:cxnLst/>
              <a:rect l="l" t="t" r="r" b="b"/>
              <a:pathLst>
                <a:path w="87350" h="220596">
                  <a:moveTo>
                    <a:pt x="0" y="0"/>
                  </a:moveTo>
                  <a:lnTo>
                    <a:pt x="87350" y="0"/>
                  </a:lnTo>
                  <a:lnTo>
                    <a:pt x="87350" y="220596"/>
                  </a:lnTo>
                  <a:lnTo>
                    <a:pt x="0" y="220596"/>
                  </a:lnTo>
                  <a:close/>
                </a:path>
              </a:pathLst>
            </a:custGeom>
            <a:solidFill>
              <a:srgbClr val="990201"/>
            </a:solidFill>
          </p:spPr>
          <p:txBody>
            <a:bodyPr/>
            <a:lstStyle/>
            <a:p>
              <a:endParaRPr lang="en-US"/>
            </a:p>
          </p:txBody>
        </p:sp>
        <p:sp>
          <p:nvSpPr>
            <p:cNvPr id="5" name="TextBox 5">
              <a:extLst>
                <a:ext uri="{FF2B5EF4-FFF2-40B4-BE49-F238E27FC236}">
                  <a16:creationId xmlns:a16="http://schemas.microsoft.com/office/drawing/2014/main" id="{CE98A88C-F4F0-22C6-D44A-58B3E0F06B89}"/>
                </a:ext>
              </a:extLst>
            </p:cNvPr>
            <p:cNvSpPr txBox="1"/>
            <p:nvPr/>
          </p:nvSpPr>
          <p:spPr>
            <a:xfrm>
              <a:off x="0" y="-38100"/>
              <a:ext cx="87350" cy="258696"/>
            </a:xfrm>
            <a:prstGeom prst="rect">
              <a:avLst/>
            </a:prstGeom>
          </p:spPr>
          <p:txBody>
            <a:bodyPr lIns="50800" tIns="50800" rIns="50800" bIns="50800" rtlCol="0" anchor="ctr"/>
            <a:lstStyle/>
            <a:p>
              <a:pPr algn="ctr">
                <a:lnSpc>
                  <a:spcPts val="3359"/>
                </a:lnSpc>
              </a:pPr>
              <a:endParaRPr/>
            </a:p>
          </p:txBody>
        </p:sp>
      </p:grpSp>
      <p:grpSp>
        <p:nvGrpSpPr>
          <p:cNvPr id="6" name="Group 6">
            <a:extLst>
              <a:ext uri="{FF2B5EF4-FFF2-40B4-BE49-F238E27FC236}">
                <a16:creationId xmlns:a16="http://schemas.microsoft.com/office/drawing/2014/main" id="{CD269F38-6113-1DEF-8C7E-328590E4AD16}"/>
              </a:ext>
            </a:extLst>
          </p:cNvPr>
          <p:cNvGrpSpPr/>
          <p:nvPr/>
        </p:nvGrpSpPr>
        <p:grpSpPr>
          <a:xfrm>
            <a:off x="-1100840" y="9408202"/>
            <a:ext cx="19388840" cy="2049792"/>
            <a:chOff x="0" y="0"/>
            <a:chExt cx="5106526" cy="539863"/>
          </a:xfrm>
        </p:grpSpPr>
        <p:sp>
          <p:nvSpPr>
            <p:cNvPr id="7" name="Freeform 7">
              <a:extLst>
                <a:ext uri="{FF2B5EF4-FFF2-40B4-BE49-F238E27FC236}">
                  <a16:creationId xmlns:a16="http://schemas.microsoft.com/office/drawing/2014/main" id="{B49D5F7D-0763-6C39-C4E2-C91A8466244F}"/>
                </a:ext>
              </a:extLst>
            </p:cNvPr>
            <p:cNvSpPr/>
            <p:nvPr/>
          </p:nvSpPr>
          <p:spPr>
            <a:xfrm>
              <a:off x="0" y="0"/>
              <a:ext cx="5106526" cy="539863"/>
            </a:xfrm>
            <a:custGeom>
              <a:avLst/>
              <a:gdLst/>
              <a:ahLst/>
              <a:cxnLst/>
              <a:rect l="l" t="t" r="r" b="b"/>
              <a:pathLst>
                <a:path w="5106526" h="539863">
                  <a:moveTo>
                    <a:pt x="0" y="0"/>
                  </a:moveTo>
                  <a:lnTo>
                    <a:pt x="5106526" y="0"/>
                  </a:lnTo>
                  <a:lnTo>
                    <a:pt x="5106526" y="539863"/>
                  </a:lnTo>
                  <a:lnTo>
                    <a:pt x="0" y="539863"/>
                  </a:lnTo>
                  <a:close/>
                </a:path>
              </a:pathLst>
            </a:custGeom>
            <a:solidFill>
              <a:srgbClr val="990201"/>
            </a:solidFill>
          </p:spPr>
          <p:txBody>
            <a:bodyPr/>
            <a:lstStyle/>
            <a:p>
              <a:endParaRPr lang="en-US"/>
            </a:p>
          </p:txBody>
        </p:sp>
        <p:sp>
          <p:nvSpPr>
            <p:cNvPr id="8" name="TextBox 8">
              <a:extLst>
                <a:ext uri="{FF2B5EF4-FFF2-40B4-BE49-F238E27FC236}">
                  <a16:creationId xmlns:a16="http://schemas.microsoft.com/office/drawing/2014/main" id="{A8BD1362-F835-BA9A-176C-0FFE9D231E7D}"/>
                </a:ext>
              </a:extLst>
            </p:cNvPr>
            <p:cNvSpPr txBox="1"/>
            <p:nvPr/>
          </p:nvSpPr>
          <p:spPr>
            <a:xfrm>
              <a:off x="0" y="-38100"/>
              <a:ext cx="5106526" cy="577963"/>
            </a:xfrm>
            <a:prstGeom prst="rect">
              <a:avLst/>
            </a:prstGeom>
          </p:spPr>
          <p:txBody>
            <a:bodyPr lIns="50800" tIns="50800" rIns="50800" bIns="50800" rtlCol="0" anchor="ctr"/>
            <a:lstStyle/>
            <a:p>
              <a:pPr algn="ctr">
                <a:lnSpc>
                  <a:spcPts val="3359"/>
                </a:lnSpc>
              </a:pPr>
              <a:endParaRPr/>
            </a:p>
          </p:txBody>
        </p:sp>
      </p:grpSp>
      <p:sp>
        <p:nvSpPr>
          <p:cNvPr id="9" name="Freeform 9">
            <a:extLst>
              <a:ext uri="{FF2B5EF4-FFF2-40B4-BE49-F238E27FC236}">
                <a16:creationId xmlns:a16="http://schemas.microsoft.com/office/drawing/2014/main" id="{995FBDF3-C900-407A-3DBD-21A15F5FE109}"/>
              </a:ext>
            </a:extLst>
          </p:cNvPr>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a:extLst>
              <a:ext uri="{FF2B5EF4-FFF2-40B4-BE49-F238E27FC236}">
                <a16:creationId xmlns:a16="http://schemas.microsoft.com/office/drawing/2014/main" id="{44D8AE87-9D5D-9473-AAE3-A49195A42107}"/>
              </a:ext>
            </a:extLst>
          </p:cNvPr>
          <p:cNvSpPr txBox="1"/>
          <p:nvPr/>
        </p:nvSpPr>
        <p:spPr>
          <a:xfrm>
            <a:off x="1028700" y="2030257"/>
            <a:ext cx="16649700" cy="707758"/>
          </a:xfrm>
          <a:prstGeom prst="rect">
            <a:avLst/>
          </a:prstGeom>
        </p:spPr>
        <p:txBody>
          <a:bodyPr wrap="square" lIns="0" tIns="0" rIns="0" bIns="0" rtlCol="0" anchor="t">
            <a:spAutoFit/>
          </a:bodyPr>
          <a:lstStyle/>
          <a:p>
            <a:pPr>
              <a:buNone/>
            </a:pPr>
            <a:br>
              <a:rPr lang="en-GB" sz="2400" dirty="0"/>
            </a:br>
            <a:endParaRPr lang="en-US" sz="2199" u="sng" dirty="0">
              <a:solidFill>
                <a:srgbClr val="000000"/>
              </a:solidFill>
              <a:latin typeface="Canva Sans"/>
              <a:ea typeface="Canva Sans"/>
              <a:cs typeface="Canva Sans"/>
              <a:sym typeface="Canva Sans"/>
              <a:hlinkClick r:id="rId3" tooltip="https://www.migrationpolicy.org/programs/data-hub/charts/immigrant-population-over-time"/>
            </a:endParaRPr>
          </a:p>
        </p:txBody>
      </p:sp>
      <p:sp>
        <p:nvSpPr>
          <p:cNvPr id="11" name="TextBox 10">
            <a:extLst>
              <a:ext uri="{FF2B5EF4-FFF2-40B4-BE49-F238E27FC236}">
                <a16:creationId xmlns:a16="http://schemas.microsoft.com/office/drawing/2014/main" id="{DB5C51E5-63E7-E427-9589-558E86A90699}"/>
              </a:ext>
            </a:extLst>
          </p:cNvPr>
          <p:cNvSpPr txBox="1"/>
          <p:nvPr/>
        </p:nvSpPr>
        <p:spPr>
          <a:xfrm>
            <a:off x="1518828" y="1586199"/>
            <a:ext cx="15354300" cy="6706131"/>
          </a:xfrm>
          <a:prstGeom prst="rect">
            <a:avLst/>
          </a:prstGeom>
          <a:noFill/>
        </p:spPr>
        <p:txBody>
          <a:bodyPr wrap="square" rtlCol="0">
            <a:spAutoFit/>
          </a:bodyPr>
          <a:lstStyle/>
          <a:p>
            <a:pPr marL="342900" indent="-342900">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Congressional Research Service. (2020). </a:t>
            </a:r>
            <a:r>
              <a:rPr lang="en-US" sz="2400" u="sng" dirty="0">
                <a:solidFill>
                  <a:srgbClr val="0563C1"/>
                </a:solidFill>
                <a:effectLst/>
                <a:ea typeface="Times New Roman" panose="02020603050405020304" pitchFamily="18" charset="0"/>
                <a:cs typeface="Times New Roman" panose="02020603050405020304" pitchFamily="18" charset="0"/>
                <a:hlinkClick r:id="rId4"/>
              </a:rPr>
              <a:t>https://sgp.fas.org/crs/misc/RL33977.pdf</a:t>
            </a:r>
            <a:endParaRPr lang="en-GB" sz="2400" dirty="0">
              <a:effectLst/>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Federal Register. (2024, December 18). </a:t>
            </a:r>
            <a:r>
              <a:rPr lang="en-US" sz="2400" u="sng" dirty="0">
                <a:solidFill>
                  <a:srgbClr val="0563C1"/>
                </a:solidFill>
                <a:effectLst/>
                <a:ea typeface="Times New Roman" panose="02020603050405020304" pitchFamily="18" charset="0"/>
                <a:cs typeface="Times New Roman" panose="02020603050405020304" pitchFamily="18" charset="0"/>
                <a:hlinkClick r:id="rId5"/>
              </a:rPr>
              <a:t>https://www.federalregister.gov/documents/2024/12/18/2024-29354/modernizing-h-1b-requirements-providing-flexibility-in-the-f-1-program-and-program-improvements</a:t>
            </a:r>
            <a:endParaRPr lang="en-GB" sz="2400" dirty="0">
              <a:effectLst/>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Pew Research Center. (2024, September 27). </a:t>
            </a:r>
            <a:r>
              <a:rPr lang="en-US" sz="2400" u="sng" dirty="0">
                <a:solidFill>
                  <a:srgbClr val="0563C1"/>
                </a:solidFill>
                <a:effectLst/>
                <a:ea typeface="Times New Roman" panose="02020603050405020304" pitchFamily="18" charset="0"/>
                <a:cs typeface="Times New Roman" panose="02020603050405020304" pitchFamily="18" charset="0"/>
                <a:hlinkClick r:id="rId6"/>
              </a:rPr>
              <a:t>https://www.pewresearch.org/short-reads/2024/09/27/key-findings-about-us-immigrants/</a:t>
            </a:r>
            <a:endParaRPr lang="en-GB" sz="2400" dirty="0">
              <a:effectLst/>
              <a:ea typeface="Calibri" panose="020F0502020204030204" pitchFamily="34" charset="0"/>
              <a:cs typeface="Times New Roman" panose="02020603050405020304" pitchFamily="18" charset="0"/>
            </a:endParaRPr>
          </a:p>
          <a:p>
            <a:pPr marL="342900" lvl="0" indent="-342900">
              <a:lnSpc>
                <a:spcPct val="107000"/>
              </a:lnSpc>
              <a:buFont typeface="Arial" panose="020B0604020202020204" pitchFamily="34" charset="0"/>
              <a:buChar char="•"/>
            </a:pPr>
            <a:endParaRPr lang="en-US" sz="2400" dirty="0"/>
          </a:p>
          <a:p>
            <a:pPr marL="342900" lvl="0" indent="-342900">
              <a:lnSpc>
                <a:spcPct val="107000"/>
              </a:lnSpc>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Seyfarth Shaw LLP. (2024). Keeping your ducks in H-1B </a:t>
            </a:r>
            <a:r>
              <a:rPr lang="en-US" sz="2400" dirty="0" err="1">
                <a:effectLst/>
                <a:ea typeface="Times New Roman" panose="02020603050405020304" pitchFamily="18" charset="0"/>
                <a:cs typeface="Times New Roman" panose="02020603050405020304" pitchFamily="18" charset="0"/>
              </a:rPr>
              <a:t>row.</a:t>
            </a:r>
            <a:r>
              <a:rPr lang="en-US" sz="2400" u="sng" dirty="0" err="1">
                <a:solidFill>
                  <a:srgbClr val="0563C1"/>
                </a:solidFill>
                <a:effectLst/>
                <a:ea typeface="Times New Roman" panose="02020603050405020304" pitchFamily="18" charset="0"/>
                <a:cs typeface="Times New Roman" panose="02020603050405020304" pitchFamily="18" charset="0"/>
                <a:hlinkClick r:id="rId7"/>
              </a:rPr>
              <a:t>https</a:t>
            </a:r>
            <a:r>
              <a:rPr lang="en-US" sz="2400" u="sng" dirty="0">
                <a:solidFill>
                  <a:srgbClr val="0563C1"/>
                </a:solidFill>
                <a:effectLst/>
                <a:ea typeface="Times New Roman" panose="02020603050405020304" pitchFamily="18" charset="0"/>
                <a:cs typeface="Times New Roman" panose="02020603050405020304" pitchFamily="18" charset="0"/>
                <a:hlinkClick r:id="rId7"/>
              </a:rPr>
              <a:t>://www.seyfarth.com/news-insights/keeping-your-ducks-in-h-1b-row-compliance-strategies-for-employers.html</a:t>
            </a:r>
            <a:endParaRPr lang="en-GB" sz="2400" dirty="0">
              <a:effectLst/>
              <a:ea typeface="Calibri" panose="020F0502020204030204" pitchFamily="34" charset="0"/>
              <a:cs typeface="Times New Roman" panose="02020603050405020304" pitchFamily="18" charset="0"/>
            </a:endParaRPr>
          </a:p>
          <a:p>
            <a:pPr marL="342900" lvl="0" indent="-342900">
              <a:lnSpc>
                <a:spcPct val="107000"/>
              </a:lnSpc>
              <a:buFont typeface="Arial" panose="020B0604020202020204" pitchFamily="34" charset="0"/>
              <a:buChar char="•"/>
            </a:pPr>
            <a:endParaRPr lang="en-US" sz="2400" dirty="0">
              <a:effectLst/>
              <a:ea typeface="Times New Roman" panose="02020603050405020304" pitchFamily="18" charset="0"/>
              <a:cs typeface="Times New Roman" panose="02020603050405020304" pitchFamily="18" charset="0"/>
            </a:endParaRPr>
          </a:p>
          <a:p>
            <a:pPr marL="342900" lvl="0" indent="-342900">
              <a:lnSpc>
                <a:spcPct val="107000"/>
              </a:lnSpc>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U.S. Department of Labor, Wage and Hour Division. (2024). H-1B program. </a:t>
            </a:r>
            <a:r>
              <a:rPr lang="en-US" sz="2400" u="sng" dirty="0">
                <a:solidFill>
                  <a:srgbClr val="0563C1"/>
                </a:solidFill>
                <a:effectLst/>
                <a:ea typeface="Times New Roman" panose="02020603050405020304" pitchFamily="18" charset="0"/>
                <a:cs typeface="Times New Roman" panose="02020603050405020304" pitchFamily="18" charset="0"/>
                <a:hlinkClick r:id="rId8"/>
              </a:rPr>
              <a:t>https://www.dol.gov/agencies/whd/immigration/h1b</a:t>
            </a:r>
            <a:endParaRPr lang="en-GB" sz="2400" u="sng" dirty="0">
              <a:solidFill>
                <a:srgbClr val="0563C1"/>
              </a:solidFill>
              <a:ea typeface="Times New Roman" panose="02020603050405020304" pitchFamily="18" charset="0"/>
              <a:cs typeface="Times New Roman" panose="02020603050405020304" pitchFamily="18" charset="0"/>
            </a:endParaRPr>
          </a:p>
          <a:p>
            <a:pPr marL="342900" lvl="0" indent="-342900">
              <a:lnSpc>
                <a:spcPct val="107000"/>
              </a:lnSpc>
              <a:buFont typeface="Arial" panose="020B0604020202020204" pitchFamily="34" charset="0"/>
              <a:buChar char="•"/>
            </a:pPr>
            <a:endParaRPr lang="en-US" sz="2400" dirty="0">
              <a:effectLst/>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pPr>
            <a:r>
              <a:rPr lang="en-US" sz="2400" dirty="0">
                <a:effectLst/>
                <a:ea typeface="Times New Roman" panose="02020603050405020304" pitchFamily="18" charset="0"/>
                <a:cs typeface="Times New Roman" panose="02020603050405020304" pitchFamily="18" charset="0"/>
              </a:rPr>
              <a:t>U.S. Citizenship and Immigration Services. (2024).</a:t>
            </a:r>
            <a:r>
              <a:rPr lang="en-US" sz="2400" u="sng" dirty="0">
                <a:solidFill>
                  <a:srgbClr val="0563C1"/>
                </a:solidFill>
                <a:effectLst/>
                <a:ea typeface="Times New Roman" panose="02020603050405020304" pitchFamily="18" charset="0"/>
                <a:cs typeface="Times New Roman" panose="02020603050405020304" pitchFamily="18" charset="0"/>
                <a:hlinkClick r:id="rId9"/>
              </a:rPr>
              <a:t>https://www.uscis.gov/tools/reports-and-studies/h-1b-employer-data-hub</a:t>
            </a:r>
            <a:endParaRPr lang="en-GB" sz="2400" dirty="0">
              <a:effectLst/>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617477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a:extLst>
            <a:ext uri="{FF2B5EF4-FFF2-40B4-BE49-F238E27FC236}">
              <a16:creationId xmlns:a16="http://schemas.microsoft.com/office/drawing/2014/main" id="{0E5286B3-EBF3-BFC5-EA25-D46C03F121C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BDF6146-646D-C031-F709-0199737E8991}"/>
              </a:ext>
            </a:extLst>
          </p:cNvPr>
          <p:cNvSpPr txBox="1"/>
          <p:nvPr/>
        </p:nvSpPr>
        <p:spPr>
          <a:xfrm>
            <a:off x="1014412" y="768890"/>
            <a:ext cx="15147385" cy="658385"/>
          </a:xfrm>
          <a:prstGeom prst="rect">
            <a:avLst/>
          </a:prstGeom>
        </p:spPr>
        <p:txBody>
          <a:bodyPr lIns="0" tIns="0" rIns="0" bIns="0" rtlCol="0" anchor="t">
            <a:spAutoFit/>
          </a:bodyPr>
          <a:lstStyle/>
          <a:p>
            <a:pPr algn="just">
              <a:lnSpc>
                <a:spcPts val="5473"/>
              </a:lnSpc>
              <a:spcBef>
                <a:spcPct val="0"/>
              </a:spcBef>
            </a:pPr>
            <a:r>
              <a:rPr lang="en-US" sz="3909" b="1" dirty="0">
                <a:solidFill>
                  <a:srgbClr val="000000"/>
                </a:solidFill>
                <a:latin typeface="Canva Sans Bold"/>
                <a:ea typeface="Canva Sans Bold"/>
                <a:cs typeface="Canva Sans Bold"/>
                <a:sym typeface="Canva Sans Bold"/>
              </a:rPr>
              <a:t>Presentation Video Link</a:t>
            </a:r>
          </a:p>
        </p:txBody>
      </p:sp>
      <p:grpSp>
        <p:nvGrpSpPr>
          <p:cNvPr id="3" name="Group 3">
            <a:extLst>
              <a:ext uri="{FF2B5EF4-FFF2-40B4-BE49-F238E27FC236}">
                <a16:creationId xmlns:a16="http://schemas.microsoft.com/office/drawing/2014/main" id="{17346DF1-EB2A-9D65-7799-6FB06B6AC345}"/>
              </a:ext>
            </a:extLst>
          </p:cNvPr>
          <p:cNvGrpSpPr/>
          <p:nvPr/>
        </p:nvGrpSpPr>
        <p:grpSpPr>
          <a:xfrm>
            <a:off x="0" y="679296"/>
            <a:ext cx="331657" cy="837575"/>
            <a:chOff x="0" y="0"/>
            <a:chExt cx="87350" cy="220596"/>
          </a:xfrm>
        </p:grpSpPr>
        <p:sp>
          <p:nvSpPr>
            <p:cNvPr id="4" name="Freeform 4">
              <a:extLst>
                <a:ext uri="{FF2B5EF4-FFF2-40B4-BE49-F238E27FC236}">
                  <a16:creationId xmlns:a16="http://schemas.microsoft.com/office/drawing/2014/main" id="{533184AC-900C-00EA-2F44-0F1FB3ED0E45}"/>
                </a:ext>
              </a:extLst>
            </p:cNvPr>
            <p:cNvSpPr/>
            <p:nvPr/>
          </p:nvSpPr>
          <p:spPr>
            <a:xfrm>
              <a:off x="0" y="0"/>
              <a:ext cx="87350" cy="220596"/>
            </a:xfrm>
            <a:custGeom>
              <a:avLst/>
              <a:gdLst/>
              <a:ahLst/>
              <a:cxnLst/>
              <a:rect l="l" t="t" r="r" b="b"/>
              <a:pathLst>
                <a:path w="87350" h="220596">
                  <a:moveTo>
                    <a:pt x="0" y="0"/>
                  </a:moveTo>
                  <a:lnTo>
                    <a:pt x="87350" y="0"/>
                  </a:lnTo>
                  <a:lnTo>
                    <a:pt x="87350" y="220596"/>
                  </a:lnTo>
                  <a:lnTo>
                    <a:pt x="0" y="220596"/>
                  </a:lnTo>
                  <a:close/>
                </a:path>
              </a:pathLst>
            </a:custGeom>
            <a:solidFill>
              <a:srgbClr val="990201"/>
            </a:solidFill>
          </p:spPr>
          <p:txBody>
            <a:bodyPr/>
            <a:lstStyle/>
            <a:p>
              <a:endParaRPr lang="en-US"/>
            </a:p>
          </p:txBody>
        </p:sp>
        <p:sp>
          <p:nvSpPr>
            <p:cNvPr id="5" name="TextBox 5">
              <a:extLst>
                <a:ext uri="{FF2B5EF4-FFF2-40B4-BE49-F238E27FC236}">
                  <a16:creationId xmlns:a16="http://schemas.microsoft.com/office/drawing/2014/main" id="{90EBC8CE-7D58-A1E3-1E98-FE467A9DA812}"/>
                </a:ext>
              </a:extLst>
            </p:cNvPr>
            <p:cNvSpPr txBox="1"/>
            <p:nvPr/>
          </p:nvSpPr>
          <p:spPr>
            <a:xfrm>
              <a:off x="0" y="-38100"/>
              <a:ext cx="87350" cy="258696"/>
            </a:xfrm>
            <a:prstGeom prst="rect">
              <a:avLst/>
            </a:prstGeom>
          </p:spPr>
          <p:txBody>
            <a:bodyPr lIns="50800" tIns="50800" rIns="50800" bIns="50800" rtlCol="0" anchor="ctr"/>
            <a:lstStyle/>
            <a:p>
              <a:pPr algn="ctr">
                <a:lnSpc>
                  <a:spcPts val="3359"/>
                </a:lnSpc>
              </a:pPr>
              <a:endParaRPr/>
            </a:p>
          </p:txBody>
        </p:sp>
      </p:grpSp>
      <p:grpSp>
        <p:nvGrpSpPr>
          <p:cNvPr id="6" name="Group 6">
            <a:extLst>
              <a:ext uri="{FF2B5EF4-FFF2-40B4-BE49-F238E27FC236}">
                <a16:creationId xmlns:a16="http://schemas.microsoft.com/office/drawing/2014/main" id="{4DAD1675-7AD9-1F2B-3BFF-893AF0B0FEFF}"/>
              </a:ext>
            </a:extLst>
          </p:cNvPr>
          <p:cNvGrpSpPr/>
          <p:nvPr/>
        </p:nvGrpSpPr>
        <p:grpSpPr>
          <a:xfrm>
            <a:off x="-1100840" y="9408202"/>
            <a:ext cx="19388840" cy="2049792"/>
            <a:chOff x="0" y="0"/>
            <a:chExt cx="5106526" cy="539863"/>
          </a:xfrm>
        </p:grpSpPr>
        <p:sp>
          <p:nvSpPr>
            <p:cNvPr id="7" name="Freeform 7">
              <a:extLst>
                <a:ext uri="{FF2B5EF4-FFF2-40B4-BE49-F238E27FC236}">
                  <a16:creationId xmlns:a16="http://schemas.microsoft.com/office/drawing/2014/main" id="{966D97A9-AABB-21FC-EBB8-6D59ADF568A4}"/>
                </a:ext>
              </a:extLst>
            </p:cNvPr>
            <p:cNvSpPr/>
            <p:nvPr/>
          </p:nvSpPr>
          <p:spPr>
            <a:xfrm>
              <a:off x="0" y="0"/>
              <a:ext cx="5106526" cy="539863"/>
            </a:xfrm>
            <a:custGeom>
              <a:avLst/>
              <a:gdLst/>
              <a:ahLst/>
              <a:cxnLst/>
              <a:rect l="l" t="t" r="r" b="b"/>
              <a:pathLst>
                <a:path w="5106526" h="539863">
                  <a:moveTo>
                    <a:pt x="0" y="0"/>
                  </a:moveTo>
                  <a:lnTo>
                    <a:pt x="5106526" y="0"/>
                  </a:lnTo>
                  <a:lnTo>
                    <a:pt x="5106526" y="539863"/>
                  </a:lnTo>
                  <a:lnTo>
                    <a:pt x="0" y="539863"/>
                  </a:lnTo>
                  <a:close/>
                </a:path>
              </a:pathLst>
            </a:custGeom>
            <a:solidFill>
              <a:srgbClr val="990201"/>
            </a:solidFill>
          </p:spPr>
          <p:txBody>
            <a:bodyPr/>
            <a:lstStyle/>
            <a:p>
              <a:endParaRPr lang="en-US"/>
            </a:p>
          </p:txBody>
        </p:sp>
        <p:sp>
          <p:nvSpPr>
            <p:cNvPr id="8" name="TextBox 8">
              <a:extLst>
                <a:ext uri="{FF2B5EF4-FFF2-40B4-BE49-F238E27FC236}">
                  <a16:creationId xmlns:a16="http://schemas.microsoft.com/office/drawing/2014/main" id="{127E6588-8635-EEE2-9057-9BC7BD7FCD68}"/>
                </a:ext>
              </a:extLst>
            </p:cNvPr>
            <p:cNvSpPr txBox="1"/>
            <p:nvPr/>
          </p:nvSpPr>
          <p:spPr>
            <a:xfrm>
              <a:off x="0" y="-38100"/>
              <a:ext cx="5106526" cy="577963"/>
            </a:xfrm>
            <a:prstGeom prst="rect">
              <a:avLst/>
            </a:prstGeom>
          </p:spPr>
          <p:txBody>
            <a:bodyPr lIns="50800" tIns="50800" rIns="50800" bIns="50800" rtlCol="0" anchor="ctr"/>
            <a:lstStyle/>
            <a:p>
              <a:pPr algn="ctr">
                <a:lnSpc>
                  <a:spcPts val="3359"/>
                </a:lnSpc>
              </a:pPr>
              <a:endParaRPr/>
            </a:p>
          </p:txBody>
        </p:sp>
      </p:grpSp>
      <p:sp>
        <p:nvSpPr>
          <p:cNvPr id="9" name="Freeform 9">
            <a:extLst>
              <a:ext uri="{FF2B5EF4-FFF2-40B4-BE49-F238E27FC236}">
                <a16:creationId xmlns:a16="http://schemas.microsoft.com/office/drawing/2014/main" id="{922F3A7C-0AF2-0C28-2EA1-C5AC67E03824}"/>
              </a:ext>
            </a:extLst>
          </p:cNvPr>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10" name="TextBox 10">
            <a:extLst>
              <a:ext uri="{FF2B5EF4-FFF2-40B4-BE49-F238E27FC236}">
                <a16:creationId xmlns:a16="http://schemas.microsoft.com/office/drawing/2014/main" id="{A61175E4-BFA4-4932-0925-9FD964627C1C}"/>
              </a:ext>
            </a:extLst>
          </p:cNvPr>
          <p:cNvSpPr txBox="1"/>
          <p:nvPr/>
        </p:nvSpPr>
        <p:spPr>
          <a:xfrm>
            <a:off x="1028700" y="2030257"/>
            <a:ext cx="16649700" cy="369332"/>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t>YouTube Video Link - </a:t>
            </a:r>
            <a:r>
              <a:rPr lang="en-GB" sz="2400" dirty="0">
                <a:hlinkClick r:id="rId3"/>
              </a:rPr>
              <a:t>https://www.youtube.com/watch?v=35JZWMPVXPI&amp;feature=youtu.be</a:t>
            </a:r>
            <a:r>
              <a:rPr lang="en-GB" sz="2400" dirty="0"/>
              <a:t> </a:t>
            </a:r>
            <a:endParaRPr lang="en-US" sz="2199" u="sng" dirty="0">
              <a:solidFill>
                <a:srgbClr val="000000"/>
              </a:solidFill>
              <a:latin typeface="Canva Sans"/>
              <a:ea typeface="Canva Sans"/>
              <a:cs typeface="Canva Sans"/>
              <a:sym typeface="Canva Sans"/>
              <a:hlinkClick r:id="rId4" tooltip="https://www.migrationpolicy.org/programs/data-hub/charts/immigrant-population-over-time"/>
            </a:endParaRPr>
          </a:p>
        </p:txBody>
      </p:sp>
    </p:spTree>
    <p:extLst>
      <p:ext uri="{BB962C8B-B14F-4D97-AF65-F5344CB8AC3E}">
        <p14:creationId xmlns:p14="http://schemas.microsoft.com/office/powerpoint/2010/main" val="3602628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CEAEA"/>
        </a:solidFill>
        <a:effectLst/>
      </p:bgPr>
    </p:bg>
    <p:spTree>
      <p:nvGrpSpPr>
        <p:cNvPr id="1" name=""/>
        <p:cNvGrpSpPr/>
        <p:nvPr/>
      </p:nvGrpSpPr>
      <p:grpSpPr>
        <a:xfrm>
          <a:off x="0" y="0"/>
          <a:ext cx="0" cy="0"/>
          <a:chOff x="0" y="0"/>
          <a:chExt cx="0" cy="0"/>
        </a:xfrm>
      </p:grpSpPr>
      <p:grpSp>
        <p:nvGrpSpPr>
          <p:cNvPr id="2" name="Group 2"/>
          <p:cNvGrpSpPr/>
          <p:nvPr/>
        </p:nvGrpSpPr>
        <p:grpSpPr>
          <a:xfrm>
            <a:off x="0" y="679296"/>
            <a:ext cx="331657" cy="837575"/>
            <a:chOff x="0" y="0"/>
            <a:chExt cx="87350" cy="220596"/>
          </a:xfrm>
        </p:grpSpPr>
        <p:sp>
          <p:nvSpPr>
            <p:cNvPr id="3" name="Freeform 3"/>
            <p:cNvSpPr/>
            <p:nvPr/>
          </p:nvSpPr>
          <p:spPr>
            <a:xfrm>
              <a:off x="0" y="0"/>
              <a:ext cx="87350" cy="220596"/>
            </a:xfrm>
            <a:custGeom>
              <a:avLst/>
              <a:gdLst/>
              <a:ahLst/>
              <a:cxnLst/>
              <a:rect l="l" t="t" r="r" b="b"/>
              <a:pathLst>
                <a:path w="87350" h="220596">
                  <a:moveTo>
                    <a:pt x="0" y="0"/>
                  </a:moveTo>
                  <a:lnTo>
                    <a:pt x="87350" y="0"/>
                  </a:lnTo>
                  <a:lnTo>
                    <a:pt x="87350" y="220596"/>
                  </a:lnTo>
                  <a:lnTo>
                    <a:pt x="0" y="220596"/>
                  </a:lnTo>
                  <a:close/>
                </a:path>
              </a:pathLst>
            </a:custGeom>
            <a:solidFill>
              <a:srgbClr val="990201"/>
            </a:solidFill>
          </p:spPr>
          <p:txBody>
            <a:bodyPr/>
            <a:lstStyle/>
            <a:p>
              <a:endParaRPr lang="en-US"/>
            </a:p>
          </p:txBody>
        </p:sp>
        <p:sp>
          <p:nvSpPr>
            <p:cNvPr id="4" name="TextBox 4"/>
            <p:cNvSpPr txBox="1"/>
            <p:nvPr/>
          </p:nvSpPr>
          <p:spPr>
            <a:xfrm>
              <a:off x="0" y="-38100"/>
              <a:ext cx="87350" cy="25869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00840" y="9408202"/>
            <a:ext cx="19388840" cy="2049792"/>
            <a:chOff x="0" y="0"/>
            <a:chExt cx="5106526" cy="539863"/>
          </a:xfrm>
        </p:grpSpPr>
        <p:sp>
          <p:nvSpPr>
            <p:cNvPr id="6" name="Freeform 6"/>
            <p:cNvSpPr/>
            <p:nvPr/>
          </p:nvSpPr>
          <p:spPr>
            <a:xfrm>
              <a:off x="0" y="0"/>
              <a:ext cx="5106526" cy="539863"/>
            </a:xfrm>
            <a:custGeom>
              <a:avLst/>
              <a:gdLst/>
              <a:ahLst/>
              <a:cxnLst/>
              <a:rect l="l" t="t" r="r" b="b"/>
              <a:pathLst>
                <a:path w="5106526" h="539863">
                  <a:moveTo>
                    <a:pt x="0" y="0"/>
                  </a:moveTo>
                  <a:lnTo>
                    <a:pt x="5106526" y="0"/>
                  </a:lnTo>
                  <a:lnTo>
                    <a:pt x="5106526" y="539863"/>
                  </a:lnTo>
                  <a:lnTo>
                    <a:pt x="0" y="539863"/>
                  </a:lnTo>
                  <a:close/>
                </a:path>
              </a:pathLst>
            </a:custGeom>
            <a:solidFill>
              <a:srgbClr val="990201"/>
            </a:solidFill>
          </p:spPr>
          <p:txBody>
            <a:bodyPr/>
            <a:lstStyle/>
            <a:p>
              <a:endParaRPr lang="en-US"/>
            </a:p>
          </p:txBody>
        </p:sp>
        <p:sp>
          <p:nvSpPr>
            <p:cNvPr id="7" name="TextBox 7"/>
            <p:cNvSpPr txBox="1"/>
            <p:nvPr/>
          </p:nvSpPr>
          <p:spPr>
            <a:xfrm>
              <a:off x="0" y="-38100"/>
              <a:ext cx="5106526" cy="577963"/>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915017" y="8364661"/>
            <a:ext cx="980622" cy="1656114"/>
          </a:xfrm>
          <a:custGeom>
            <a:avLst/>
            <a:gdLst/>
            <a:ahLst/>
            <a:cxnLst/>
            <a:rect l="l" t="t" r="r" b="b"/>
            <a:pathLst>
              <a:path w="980622" h="1656114">
                <a:moveTo>
                  <a:pt x="0" y="0"/>
                </a:moveTo>
                <a:lnTo>
                  <a:pt x="980622" y="0"/>
                </a:lnTo>
                <a:lnTo>
                  <a:pt x="980622" y="1656114"/>
                </a:lnTo>
                <a:lnTo>
                  <a:pt x="0" y="1656114"/>
                </a:lnTo>
                <a:lnTo>
                  <a:pt x="0" y="0"/>
                </a:lnTo>
                <a:close/>
              </a:path>
            </a:pathLst>
          </a:custGeom>
          <a:blipFill>
            <a:blip r:embed="rId2"/>
            <a:stretch>
              <a:fillRect l="-42037" t="-63359" r="-1008901" b="-29417"/>
            </a:stretch>
          </a:blipFill>
        </p:spPr>
        <p:txBody>
          <a:bodyPr/>
          <a:lstStyle/>
          <a:p>
            <a:endParaRPr lang="en-US"/>
          </a:p>
        </p:txBody>
      </p:sp>
      <p:sp>
        <p:nvSpPr>
          <p:cNvPr id="9" name="TextBox 9"/>
          <p:cNvSpPr txBox="1"/>
          <p:nvPr/>
        </p:nvSpPr>
        <p:spPr>
          <a:xfrm>
            <a:off x="6981461" y="4216169"/>
            <a:ext cx="3747768" cy="778512"/>
          </a:xfrm>
          <a:prstGeom prst="rect">
            <a:avLst/>
          </a:prstGeom>
        </p:spPr>
        <p:txBody>
          <a:bodyPr lIns="0" tIns="0" rIns="0" bIns="0" rtlCol="0" anchor="t">
            <a:spAutoFit/>
          </a:bodyPr>
          <a:lstStyle/>
          <a:p>
            <a:pPr algn="just">
              <a:lnSpc>
                <a:spcPts val="6439"/>
              </a:lnSpc>
              <a:spcBef>
                <a:spcPct val="0"/>
              </a:spcBef>
            </a:pPr>
            <a:r>
              <a:rPr lang="en-US" sz="4599" dirty="0">
                <a:solidFill>
                  <a:srgbClr val="000000"/>
                </a:solidFill>
                <a:latin typeface="Canva Sans"/>
                <a:ea typeface="Canva Sans"/>
                <a:cs typeface="Canva Sans"/>
                <a:sym typeface="Canva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2113</Words>
  <Application>Microsoft Office PowerPoint</Application>
  <PresentationFormat>Custom</PresentationFormat>
  <Paragraphs>216</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Arimo</vt:lpstr>
      <vt:lpstr>Calibri</vt:lpstr>
      <vt:lpstr>Times New Roman</vt:lpstr>
      <vt:lpstr>Aptos</vt:lpstr>
      <vt:lpstr>Canva Sans Bold</vt:lpstr>
      <vt:lpstr>Arial</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INDIANA UNIVERSITY BLOOMINGTON</dc:title>
  <dc:creator>Mouryan Jayasankar</dc:creator>
  <cp:lastModifiedBy>Kishore Kumar</cp:lastModifiedBy>
  <cp:revision>16</cp:revision>
  <dcterms:created xsi:type="dcterms:W3CDTF">2006-08-16T00:00:00Z</dcterms:created>
  <dcterms:modified xsi:type="dcterms:W3CDTF">2025-05-02T03:40:01Z</dcterms:modified>
  <dc:identifier>DAGWzXXD2R8</dc:identifier>
</cp:coreProperties>
</file>